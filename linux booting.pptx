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83" r:id="rId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02" autoAdjust="0"/>
  </p:normalViewPr>
  <p:slideViewPr>
    <p:cSldViewPr>
      <p:cViewPr varScale="1">
        <p:scale>
          <a:sx n="84" d="100"/>
          <a:sy n="84" d="100"/>
        </p:scale>
        <p:origin x="629" y="10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60672" y="-42698"/>
            <a:ext cx="9070655" cy="8978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729615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DEPARTMENT</a:t>
            </a:r>
            <a:r>
              <a:rPr spc="114" dirty="0"/>
              <a:t> </a:t>
            </a:r>
            <a:r>
              <a:rPr spc="100" dirty="0"/>
              <a:t>OF</a:t>
            </a:r>
            <a:r>
              <a:rPr spc="120" dirty="0"/>
              <a:t> </a:t>
            </a:r>
            <a:r>
              <a:rPr spc="65" dirty="0"/>
              <a:t>INFORMATION</a:t>
            </a:r>
            <a:r>
              <a:rPr spc="114" dirty="0"/>
              <a:t> </a:t>
            </a:r>
            <a:r>
              <a:rPr spc="110" dirty="0"/>
              <a:t>SCIENCE</a:t>
            </a:r>
            <a:r>
              <a:rPr spc="120" dirty="0"/>
              <a:t> </a:t>
            </a:r>
            <a:r>
              <a:rPr spc="55" dirty="0"/>
              <a:t>&amp;</a:t>
            </a:r>
            <a:r>
              <a:rPr spc="120" dirty="0"/>
              <a:t> </a:t>
            </a:r>
            <a:r>
              <a:rPr spc="7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50" dirty="0"/>
              <a:t>10/16/2025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729615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DEPARTMENT</a:t>
            </a:r>
            <a:r>
              <a:rPr spc="114" dirty="0"/>
              <a:t> </a:t>
            </a:r>
            <a:r>
              <a:rPr spc="100" dirty="0"/>
              <a:t>OF</a:t>
            </a:r>
            <a:r>
              <a:rPr spc="120" dirty="0"/>
              <a:t> </a:t>
            </a:r>
            <a:r>
              <a:rPr spc="65" dirty="0"/>
              <a:t>INFORMATION</a:t>
            </a:r>
            <a:r>
              <a:rPr spc="114" dirty="0"/>
              <a:t> </a:t>
            </a:r>
            <a:r>
              <a:rPr spc="110" dirty="0"/>
              <a:t>SCIENCE</a:t>
            </a:r>
            <a:r>
              <a:rPr spc="120" dirty="0"/>
              <a:t> </a:t>
            </a:r>
            <a:r>
              <a:rPr spc="55" dirty="0"/>
              <a:t>&amp;</a:t>
            </a:r>
            <a:r>
              <a:rPr spc="120" dirty="0"/>
              <a:t> </a:t>
            </a:r>
            <a:r>
              <a:rPr spc="7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50" dirty="0"/>
              <a:t>10/16/2025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729615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DEPARTMENT</a:t>
            </a:r>
            <a:r>
              <a:rPr spc="114" dirty="0"/>
              <a:t> </a:t>
            </a:r>
            <a:r>
              <a:rPr spc="100" dirty="0"/>
              <a:t>OF</a:t>
            </a:r>
            <a:r>
              <a:rPr spc="120" dirty="0"/>
              <a:t> </a:t>
            </a:r>
            <a:r>
              <a:rPr spc="65" dirty="0"/>
              <a:t>INFORMATION</a:t>
            </a:r>
            <a:r>
              <a:rPr spc="114" dirty="0"/>
              <a:t> </a:t>
            </a:r>
            <a:r>
              <a:rPr spc="110" dirty="0"/>
              <a:t>SCIENCE</a:t>
            </a:r>
            <a:r>
              <a:rPr spc="120" dirty="0"/>
              <a:t> </a:t>
            </a:r>
            <a:r>
              <a:rPr spc="55" dirty="0"/>
              <a:t>&amp;</a:t>
            </a:r>
            <a:r>
              <a:rPr spc="120" dirty="0"/>
              <a:t> </a:t>
            </a:r>
            <a:r>
              <a:rPr spc="7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50" dirty="0"/>
              <a:t>10/16/2025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729615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DEPARTMENT</a:t>
            </a:r>
            <a:r>
              <a:rPr spc="114" dirty="0"/>
              <a:t> </a:t>
            </a:r>
            <a:r>
              <a:rPr spc="100" dirty="0"/>
              <a:t>OF</a:t>
            </a:r>
            <a:r>
              <a:rPr spc="120" dirty="0"/>
              <a:t> </a:t>
            </a:r>
            <a:r>
              <a:rPr spc="65" dirty="0"/>
              <a:t>INFORMATION</a:t>
            </a:r>
            <a:r>
              <a:rPr spc="114" dirty="0"/>
              <a:t> </a:t>
            </a:r>
            <a:r>
              <a:rPr spc="110" dirty="0"/>
              <a:t>SCIENCE</a:t>
            </a:r>
            <a:r>
              <a:rPr spc="120" dirty="0"/>
              <a:t> </a:t>
            </a:r>
            <a:r>
              <a:rPr spc="55" dirty="0"/>
              <a:t>&amp;</a:t>
            </a:r>
            <a:r>
              <a:rPr spc="120" dirty="0"/>
              <a:t> </a:t>
            </a:r>
            <a:r>
              <a:rPr spc="70" dirty="0"/>
              <a:t>ENGINEERING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50" dirty="0"/>
              <a:t>10/16/2025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729615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DEPARTMENT</a:t>
            </a:r>
            <a:r>
              <a:rPr spc="114" dirty="0"/>
              <a:t> </a:t>
            </a:r>
            <a:r>
              <a:rPr spc="100" dirty="0"/>
              <a:t>OF</a:t>
            </a:r>
            <a:r>
              <a:rPr spc="120" dirty="0"/>
              <a:t> </a:t>
            </a:r>
            <a:r>
              <a:rPr spc="65" dirty="0"/>
              <a:t>INFORMATION</a:t>
            </a:r>
            <a:r>
              <a:rPr spc="114" dirty="0"/>
              <a:t> </a:t>
            </a:r>
            <a:r>
              <a:rPr spc="110" dirty="0"/>
              <a:t>SCIENCE</a:t>
            </a:r>
            <a:r>
              <a:rPr spc="120" dirty="0"/>
              <a:t> </a:t>
            </a:r>
            <a:r>
              <a:rPr spc="55" dirty="0"/>
              <a:t>&amp;</a:t>
            </a:r>
            <a:r>
              <a:rPr spc="120" dirty="0"/>
              <a:t> </a:t>
            </a:r>
            <a:r>
              <a:rPr spc="70" dirty="0"/>
              <a:t>ENGINEERING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50" dirty="0"/>
              <a:t>10/16/2025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0755" y="2631261"/>
            <a:ext cx="8910320" cy="15271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50368" y="6443841"/>
            <a:ext cx="4584221" cy="2702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729615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DEPARTMENT</a:t>
            </a:r>
            <a:r>
              <a:rPr spc="114" dirty="0"/>
              <a:t> </a:t>
            </a:r>
            <a:r>
              <a:rPr spc="100" dirty="0"/>
              <a:t>OF</a:t>
            </a:r>
            <a:r>
              <a:rPr spc="120" dirty="0"/>
              <a:t> </a:t>
            </a:r>
            <a:r>
              <a:rPr spc="65" dirty="0"/>
              <a:t>INFORMATION</a:t>
            </a:r>
            <a:r>
              <a:rPr spc="114" dirty="0"/>
              <a:t> </a:t>
            </a:r>
            <a:r>
              <a:rPr spc="110" dirty="0"/>
              <a:t>SCIENCE</a:t>
            </a:r>
            <a:r>
              <a:rPr spc="120" dirty="0"/>
              <a:t> </a:t>
            </a:r>
            <a:r>
              <a:rPr spc="55" dirty="0"/>
              <a:t>&amp;</a:t>
            </a:r>
            <a:r>
              <a:rPr spc="120" dirty="0"/>
              <a:t> </a:t>
            </a:r>
            <a:r>
              <a:rPr spc="7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32254" y="6443841"/>
            <a:ext cx="1134291" cy="2702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50" dirty="0"/>
              <a:t>10/16/2025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87001"/>
            <a:ext cx="12192000" cy="2786971"/>
          </a:xfrm>
          <a:custGeom>
            <a:avLst/>
            <a:gdLst/>
            <a:ahLst/>
            <a:cxnLst/>
            <a:rect l="l" t="t" r="r" b="b"/>
            <a:pathLst>
              <a:path w="12192000" h="2533650">
                <a:moveTo>
                  <a:pt x="12191999" y="2533612"/>
                </a:moveTo>
                <a:lnTo>
                  <a:pt x="0" y="2533612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2533612"/>
                </a:lnTo>
                <a:close/>
              </a:path>
            </a:pathLst>
          </a:custGeom>
          <a:solidFill>
            <a:srgbClr val="345D7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239000" y="4051367"/>
            <a:ext cx="4494224" cy="1804404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44"/>
              </a:spcBef>
            </a:pPr>
            <a:r>
              <a:rPr sz="18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Presented</a:t>
            </a:r>
            <a:r>
              <a:rPr sz="1800" b="1" spc="-6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By:</a:t>
            </a:r>
            <a:endParaRPr lang="en-IN" b="1" spc="-25" dirty="0">
              <a:solidFill>
                <a:srgbClr val="0C0C0C"/>
              </a:solidFill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944"/>
              </a:spcBef>
            </a:pPr>
            <a:endParaRPr lang="en-IN" b="1" spc="-25" dirty="0">
              <a:solidFill>
                <a:srgbClr val="0C0C0C"/>
              </a:solidFill>
              <a:latin typeface="Times New Roman"/>
              <a:cs typeface="Times New Roman"/>
            </a:endParaRPr>
          </a:p>
          <a:p>
            <a:pPr marL="12700" marR="673735">
              <a:lnSpc>
                <a:spcPct val="115599"/>
              </a:lnSpc>
              <a:spcBef>
                <a:spcPts val="100"/>
              </a:spcBef>
            </a:pPr>
            <a:r>
              <a:rPr lang="en-IN" b="1" dirty="0">
                <a:latin typeface="Times New Roman"/>
                <a:cs typeface="Times New Roman"/>
              </a:rPr>
              <a:t>Rakshith AB</a:t>
            </a: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member</a:t>
            </a:r>
            <a:r>
              <a:rPr lang="en-US" sz="20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name3</a:t>
            </a:r>
            <a:r>
              <a:rPr lang="en-US"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–</a:t>
            </a:r>
            <a:r>
              <a:rPr lang="en-US"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USN </a:t>
            </a: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Group</a:t>
            </a:r>
            <a:r>
              <a:rPr lang="en-US" sz="20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member</a:t>
            </a:r>
            <a:r>
              <a:rPr lang="en-US" sz="20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name4</a:t>
            </a:r>
            <a:r>
              <a:rPr lang="en-US"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lang="en-US"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USN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3426" y="280299"/>
            <a:ext cx="10505167" cy="2314736"/>
          </a:xfrm>
          <a:prstGeom prst="rect">
            <a:avLst/>
          </a:prstGeom>
        </p:spPr>
        <p:txBody>
          <a:bodyPr vert="horz" wrap="square" lIns="0" tIns="2197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05"/>
              </a:spcBef>
              <a:tabLst>
                <a:tab pos="3904615" algn="l"/>
              </a:tabLst>
            </a:pPr>
            <a:endParaRPr lang="en-IN" sz="2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endParaRPr lang="en-US" sz="3600" b="1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endParaRPr lang="en-US" sz="3600" b="1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Times New Roman"/>
                <a:cs typeface="Times New Roman"/>
              </a:rPr>
              <a:t>LINUX BOOTING PROCESS</a:t>
            </a:r>
            <a:endParaRPr lang="en-US" sz="3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999399" y="304800"/>
            <a:ext cx="9070655" cy="735634"/>
          </a:xfrm>
          <a:prstGeom prst="rect">
            <a:avLst/>
          </a:prstGeom>
        </p:spPr>
        <p:txBody>
          <a:bodyPr vert="horz" wrap="square" lIns="0" tIns="179880" rIns="0" bIns="0" rtlCol="0">
            <a:spAutoFit/>
          </a:bodyPr>
          <a:lstStyle/>
          <a:p>
            <a:pPr marL="1676400">
              <a:lnSpc>
                <a:spcPct val="100000"/>
              </a:lnSpc>
              <a:spcBef>
                <a:spcPts val="100"/>
              </a:spcBef>
            </a:pPr>
            <a:r>
              <a:rPr lang="en-IN" sz="3600" dirty="0">
                <a:solidFill>
                  <a:srgbClr val="548BB7"/>
                </a:solidFill>
                <a:latin typeface="Times New Roman"/>
                <a:cs typeface="Times New Roman"/>
              </a:rPr>
              <a:t>Power on and firmware Initialization </a:t>
            </a:r>
            <a:endParaRPr lang="en-IN" sz="3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2000" y="1676400"/>
            <a:ext cx="10147935" cy="27828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buChar char="•"/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When the system is powered on, the BIOS or UEFI firmware begins execution and performs the Power-On Self Test (POST) to ensure that critical hardware components such as the CPU, memory, and storage devices are functioning correctly.</a:t>
            </a:r>
          </a:p>
          <a:p>
            <a:pPr marL="241300" indent="-229235">
              <a:buChar char="•"/>
            </a:pPr>
            <a:endParaRPr lang="en-US" sz="200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241300" indent="-229235">
              <a:buChar char="•"/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After successful hardware checks, the firmware searches for and selects a bootable device.</a:t>
            </a:r>
          </a:p>
          <a:p>
            <a:pPr marL="241300" indent="-229235">
              <a:buChar char="•"/>
            </a:pPr>
            <a:endParaRPr lang="en-US" sz="200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241300" indent="-229235">
              <a:buChar char="•"/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Once a bootable device is found, control is transferred to the bootloader stored on that device</a:t>
            </a:r>
          </a:p>
          <a:p>
            <a:pPr marL="113665" indent="-229235">
              <a:buChar char="•"/>
            </a:pPr>
            <a:endParaRPr lang="en-US" sz="200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113665" indent="-229235">
              <a:buChar char="•"/>
            </a:pPr>
            <a:endParaRPr lang="en-US" sz="2000" dirty="0">
              <a:solidFill>
                <a:srgbClr val="252525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91603" rIns="0" bIns="0" rtlCol="0">
            <a:spAutoFit/>
          </a:bodyPr>
          <a:lstStyle/>
          <a:p>
            <a:pPr marL="3192145">
              <a:lnSpc>
                <a:spcPct val="100000"/>
              </a:lnSpc>
              <a:spcBef>
                <a:spcPts val="100"/>
              </a:spcBef>
            </a:pPr>
            <a:r>
              <a:rPr lang="en-IN" sz="4400" spc="-10" dirty="0">
                <a:solidFill>
                  <a:srgbClr val="548BB7"/>
                </a:solidFill>
                <a:latin typeface="Times New Roman"/>
                <a:cs typeface="Times New Roman"/>
              </a:rPr>
              <a:t>Bootloader</a:t>
            </a:r>
            <a:endParaRPr sz="4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9151" y="1676400"/>
            <a:ext cx="10513695" cy="1880643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Font typeface="Arial MT"/>
              <a:buChar char="•"/>
              <a:tabLst>
                <a:tab pos="302260" algn="l"/>
              </a:tabLst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GRUB (Grand Unified Bootloader) is responsible for presenting the user with available operating systems or kernel versions installed on the system.</a:t>
            </a:r>
          </a:p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Char char="•"/>
              <a:tabLst>
                <a:tab pos="302260" algn="l"/>
              </a:tabLst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It allows selection of boot options and passes required parameters such as kernel mode and hardware information.</a:t>
            </a:r>
          </a:p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Char char="•"/>
              <a:tabLst>
                <a:tab pos="302260" algn="l"/>
              </a:tabLst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GRUB then loads the selected Linux kernel into memory and hands over control to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93818" y="0"/>
            <a:ext cx="649732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77695" algn="l"/>
              </a:tabLst>
            </a:pPr>
            <a:r>
              <a:rPr lang="en-IN" sz="4400" b="1" spc="-10" dirty="0">
                <a:solidFill>
                  <a:srgbClr val="548BB7"/>
                </a:solidFill>
                <a:latin typeface="Times New Roman"/>
                <a:cs typeface="Times New Roman"/>
              </a:rPr>
              <a:t>Kernel Initialization </a:t>
            </a:r>
            <a:endParaRPr sz="4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400" y="1676400"/>
            <a:ext cx="9653180" cy="2095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Font typeface="Arial MT"/>
              <a:buChar char="•"/>
              <a:tabLst>
                <a:tab pos="302260" algn="l"/>
              </a:tabLst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The Linux kernel initializes core system components including CPU scheduling, memory management, and process handling.</a:t>
            </a:r>
          </a:p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Char char="•"/>
              <a:tabLst>
                <a:tab pos="302260" algn="l"/>
              </a:tabLst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It detects and loads necessary hardware drivers and mounts the root filesystem required for system operation.</a:t>
            </a:r>
          </a:p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Char char="•"/>
              <a:tabLst>
                <a:tab pos="302260" algn="l"/>
              </a:tabLst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After initialization, the kernel starts the first user-space process called systemd, which runs with process ID 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560672" y="-42698"/>
            <a:ext cx="9070655" cy="843369"/>
          </a:xfrm>
          <a:prstGeom prst="rect">
            <a:avLst/>
          </a:prstGeom>
        </p:spPr>
        <p:txBody>
          <a:bodyPr vert="horz" wrap="square" lIns="0" tIns="164653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877695" algn="l"/>
              </a:tabLst>
            </a:pPr>
            <a:r>
              <a:rPr lang="en-IN" sz="4400" spc="-10" dirty="0">
                <a:solidFill>
                  <a:srgbClr val="548BB7"/>
                </a:solidFill>
                <a:latin typeface="Times New Roman"/>
                <a:cs typeface="Times New Roman"/>
              </a:rPr>
              <a:t>		</a:t>
            </a:r>
            <a:r>
              <a:rPr sz="4400" spc="-10" dirty="0">
                <a:solidFill>
                  <a:srgbClr val="548BB7"/>
                </a:solidFill>
                <a:latin typeface="Times New Roman"/>
                <a:cs typeface="Times New Roman"/>
              </a:rPr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1120" y="1613825"/>
            <a:ext cx="10665079" cy="14875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193675">
              <a:lnSpc>
                <a:spcPts val="2300"/>
              </a:lnSpc>
              <a:spcBef>
                <a:spcPts val="10"/>
              </a:spcBef>
              <a:buSzPct val="50000"/>
              <a:tabLst>
                <a:tab pos="241300" algn="l"/>
              </a:tabLst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The Linux booting process follows a layered and modular structure that progresses from firmware initialization to user space execution. Key components such as the GRUB bootloader, the Linux kernel, and systemd work together to ensure a stable and efficient system startup. This boot mechanism ensures system stability and integrity during startup, as attackers may target boot-level components to gain persistent and privileged access to the system</a:t>
            </a:r>
            <a:r>
              <a:rPr lang="en-US" sz="2000" dirty="0"/>
              <a:t>.</a:t>
            </a:r>
            <a:endParaRPr lang="en-US" sz="2000" dirty="0">
              <a:solidFill>
                <a:srgbClr val="252525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588</TotalTime>
  <Words>288</Words>
  <Application>Microsoft Office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 MT</vt:lpstr>
      <vt:lpstr>Calibri</vt:lpstr>
      <vt:lpstr>Cambria</vt:lpstr>
      <vt:lpstr>Times New Roman</vt:lpstr>
      <vt:lpstr>Office Theme</vt:lpstr>
      <vt:lpstr>PowerPoint Presentation</vt:lpstr>
      <vt:lpstr>Power on and firmware Initialization </vt:lpstr>
      <vt:lpstr>Bootloader</vt:lpstr>
      <vt:lpstr>PowerPoint Presentation</vt:lpstr>
      <vt:lpstr> 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Presentation Template - Phase II.pptx</dc:title>
  <dc:creator>Rakshith</dc:creator>
  <cp:lastModifiedBy>Rakshit Ab</cp:lastModifiedBy>
  <cp:revision>37</cp:revision>
  <dcterms:created xsi:type="dcterms:W3CDTF">2025-10-22T14:46:34Z</dcterms:created>
  <dcterms:modified xsi:type="dcterms:W3CDTF">2026-02-12T09:17:06Z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2025-10-22T00:00:00Z</vt:filetime>
  </property>
  <property fmtid="{D5CDD505-2E9C-101B-9397-08002B2CF9AE}" pid="3" name="Creator">
    <vt:lpwstr>Google</vt:lpwstr>
  </property>
  <property fmtid="{D5CDD505-2E9C-101B-9397-08002B2CF9AE}" pid="4" name="LastSaved">
    <vt:filetime>2025-10-22T00:00:00Z</vt:filetime>
  </property>
</Properties>
</file>