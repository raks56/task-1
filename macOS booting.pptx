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83" r:id="rId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02" autoAdjust="0"/>
  </p:normalViewPr>
  <p:slideViewPr>
    <p:cSldViewPr>
      <p:cViewPr varScale="1">
        <p:scale>
          <a:sx n="84" d="100"/>
          <a:sy n="84" d="100"/>
        </p:scale>
        <p:origin x="629"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60672" y="-42698"/>
            <a:ext cx="9070655" cy="897892"/>
          </a:xfrm>
          <a:prstGeom prst="rect">
            <a:avLst/>
          </a:prstGeom>
        </p:spPr>
        <p:txBody>
          <a:bodyPr wrap="square" lIns="0" tIns="0" rIns="0" bIns="0">
            <a:spAutoFit/>
          </a:bodyPr>
          <a:lstStyle>
            <a:lvl1pPr>
              <a:defRPr sz="60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5" name="Holder 5"/>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5" name="Holder 5"/>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6" name="Holder 6"/>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4" name="Holder 4"/>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3" name="Holder 3"/>
          <p:cNvSpPr>
            <a:spLocks noGrp="1"/>
          </p:cNvSpPr>
          <p:nvPr>
            <p:ph type="dt" sz="half" idx="6"/>
          </p:nvPr>
        </p:nvSpPr>
        <p:spPr/>
        <p:txBody>
          <a:bodyPr lIns="0" tIns="0" rIns="0" bIns="0"/>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30755" y="2631261"/>
            <a:ext cx="8910320" cy="1527131"/>
          </a:xfrm>
          <a:prstGeom prst="rect">
            <a:avLst/>
          </a:prstGeom>
        </p:spPr>
        <p:txBody>
          <a:bodyPr wrap="square" lIns="0" tIns="0" rIns="0" bIns="0">
            <a:spAutoFit/>
          </a:bodyPr>
          <a:lstStyle>
            <a:lvl1pPr>
              <a:defRPr sz="6000" b="1" i="0">
                <a:solidFill>
                  <a:schemeClr val="bg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850368" y="6443841"/>
            <a:ext cx="4584221" cy="270293"/>
          </a:xfrm>
          <a:prstGeom prst="rect">
            <a:avLst/>
          </a:prstGeom>
        </p:spPr>
        <p:txBody>
          <a:bodyPr wrap="square" lIns="0" tIns="0" rIns="0" bIns="0">
            <a:spAutoFit/>
          </a:bodyPr>
          <a:lstStyle>
            <a:lvl1pPr>
              <a:defRPr sz="950" b="1" i="0">
                <a:solidFill>
                  <a:schemeClr val="tx1"/>
                </a:solidFill>
                <a:latin typeface="Cambria"/>
                <a:cs typeface="Cambria"/>
              </a:defRPr>
            </a:lvl1pPr>
          </a:lstStyle>
          <a:p>
            <a:pPr marL="729615">
              <a:lnSpc>
                <a:spcPct val="100000"/>
              </a:lnSpc>
              <a:spcBef>
                <a:spcPts val="45"/>
              </a:spcBef>
            </a:pPr>
            <a:r>
              <a:rPr spc="70" dirty="0"/>
              <a:t>DEPARTMENT</a:t>
            </a:r>
            <a:r>
              <a:rPr spc="114" dirty="0"/>
              <a:t> </a:t>
            </a:r>
            <a:r>
              <a:rPr spc="100" dirty="0"/>
              <a:t>OF</a:t>
            </a:r>
            <a:r>
              <a:rPr spc="120" dirty="0"/>
              <a:t> </a:t>
            </a:r>
            <a:r>
              <a:rPr spc="65" dirty="0"/>
              <a:t>INFORMATION</a:t>
            </a:r>
            <a:r>
              <a:rPr spc="114" dirty="0"/>
              <a:t> </a:t>
            </a:r>
            <a:r>
              <a:rPr spc="110" dirty="0"/>
              <a:t>SCIENCE</a:t>
            </a:r>
            <a:r>
              <a:rPr spc="120" dirty="0"/>
              <a:t> </a:t>
            </a:r>
            <a:r>
              <a:rPr spc="55" dirty="0"/>
              <a:t>&amp;</a:t>
            </a:r>
            <a:r>
              <a:rPr spc="120" dirty="0"/>
              <a:t> </a:t>
            </a:r>
            <a:r>
              <a:rPr spc="70" dirty="0"/>
              <a:t>ENGINEERING</a:t>
            </a:r>
          </a:p>
        </p:txBody>
      </p:sp>
      <p:sp>
        <p:nvSpPr>
          <p:cNvPr id="5" name="Holder 5"/>
          <p:cNvSpPr>
            <a:spLocks noGrp="1"/>
          </p:cNvSpPr>
          <p:nvPr>
            <p:ph type="dt" sz="half" idx="6"/>
          </p:nvPr>
        </p:nvSpPr>
        <p:spPr>
          <a:xfrm>
            <a:off x="432254" y="6443841"/>
            <a:ext cx="1134291" cy="270293"/>
          </a:xfrm>
          <a:prstGeom prst="rect">
            <a:avLst/>
          </a:prstGeom>
        </p:spPr>
        <p:txBody>
          <a:bodyPr wrap="square" lIns="0" tIns="0" rIns="0" bIns="0">
            <a:spAutoFit/>
          </a:bodyPr>
          <a:lstStyle>
            <a:lvl1pPr>
              <a:defRPr sz="950" b="1" i="0">
                <a:solidFill>
                  <a:schemeClr val="tx1"/>
                </a:solidFill>
                <a:latin typeface="Cambria"/>
                <a:cs typeface="Cambria"/>
              </a:defRPr>
            </a:lvl1pPr>
          </a:lstStyle>
          <a:p>
            <a:pPr marL="12700">
              <a:lnSpc>
                <a:spcPct val="100000"/>
              </a:lnSpc>
              <a:spcBef>
                <a:spcPts val="45"/>
              </a:spcBef>
            </a:pPr>
            <a:r>
              <a:rPr spc="50" dirty="0"/>
              <a:t>10/16/2025</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87001"/>
            <a:ext cx="12192000" cy="2786971"/>
          </a:xfrm>
          <a:custGeom>
            <a:avLst/>
            <a:gdLst/>
            <a:ahLst/>
            <a:cxnLst/>
            <a:rect l="l" t="t" r="r" b="b"/>
            <a:pathLst>
              <a:path w="12192000" h="2533650">
                <a:moveTo>
                  <a:pt x="12191999" y="2533612"/>
                </a:moveTo>
                <a:lnTo>
                  <a:pt x="0" y="2533612"/>
                </a:lnTo>
                <a:lnTo>
                  <a:pt x="0" y="0"/>
                </a:lnTo>
                <a:lnTo>
                  <a:pt x="12191999" y="0"/>
                </a:lnTo>
                <a:lnTo>
                  <a:pt x="12191999" y="2533612"/>
                </a:lnTo>
                <a:close/>
              </a:path>
            </a:pathLst>
          </a:custGeom>
          <a:solidFill>
            <a:srgbClr val="345D7E"/>
          </a:solidFill>
        </p:spPr>
        <p:txBody>
          <a:bodyPr wrap="square" lIns="0" tIns="0" rIns="0" bIns="0" rtlCol="0"/>
          <a:lstStyle/>
          <a:p>
            <a:endParaRPr dirty="0"/>
          </a:p>
        </p:txBody>
      </p:sp>
      <p:sp>
        <p:nvSpPr>
          <p:cNvPr id="3" name="object 3"/>
          <p:cNvSpPr txBox="1"/>
          <p:nvPr/>
        </p:nvSpPr>
        <p:spPr>
          <a:xfrm>
            <a:off x="7239000" y="4051367"/>
            <a:ext cx="4494224" cy="1804404"/>
          </a:xfrm>
          <a:prstGeom prst="rect">
            <a:avLst/>
          </a:prstGeom>
        </p:spPr>
        <p:txBody>
          <a:bodyPr vert="horz" wrap="square" lIns="0" tIns="120014" rIns="0" bIns="0" rtlCol="0">
            <a:spAutoFit/>
          </a:bodyPr>
          <a:lstStyle/>
          <a:p>
            <a:pPr marL="12700" algn="just">
              <a:lnSpc>
                <a:spcPct val="100000"/>
              </a:lnSpc>
              <a:spcBef>
                <a:spcPts val="944"/>
              </a:spcBef>
            </a:pPr>
            <a:r>
              <a:rPr sz="1800" b="1" spc="-10" dirty="0">
                <a:solidFill>
                  <a:srgbClr val="0C0C0C"/>
                </a:solidFill>
                <a:latin typeface="Times New Roman"/>
                <a:cs typeface="Times New Roman"/>
              </a:rPr>
              <a:t>Presented</a:t>
            </a:r>
            <a:r>
              <a:rPr sz="1800" b="1" spc="-65" dirty="0">
                <a:solidFill>
                  <a:srgbClr val="0C0C0C"/>
                </a:solidFill>
                <a:latin typeface="Times New Roman"/>
                <a:cs typeface="Times New Roman"/>
              </a:rPr>
              <a:t> </a:t>
            </a:r>
            <a:r>
              <a:rPr sz="1800" b="1" spc="-25" dirty="0">
                <a:solidFill>
                  <a:srgbClr val="0C0C0C"/>
                </a:solidFill>
                <a:latin typeface="Times New Roman"/>
                <a:cs typeface="Times New Roman"/>
              </a:rPr>
              <a:t>By:</a:t>
            </a:r>
            <a:endParaRPr lang="en-IN" b="1" spc="-25" dirty="0">
              <a:solidFill>
                <a:srgbClr val="0C0C0C"/>
              </a:solidFill>
              <a:latin typeface="Times New Roman"/>
              <a:cs typeface="Times New Roman"/>
            </a:endParaRPr>
          </a:p>
          <a:p>
            <a:pPr marL="12700" algn="just">
              <a:lnSpc>
                <a:spcPct val="100000"/>
              </a:lnSpc>
              <a:spcBef>
                <a:spcPts val="944"/>
              </a:spcBef>
            </a:pPr>
            <a:endParaRPr lang="en-IN" b="1" spc="-25" dirty="0">
              <a:solidFill>
                <a:srgbClr val="0C0C0C"/>
              </a:solidFill>
              <a:latin typeface="Times New Roman"/>
              <a:cs typeface="Times New Roman"/>
            </a:endParaRPr>
          </a:p>
          <a:p>
            <a:pPr marL="12700" marR="673735">
              <a:lnSpc>
                <a:spcPct val="115599"/>
              </a:lnSpc>
              <a:spcBef>
                <a:spcPts val="100"/>
              </a:spcBef>
            </a:pPr>
            <a:r>
              <a:rPr lang="en-IN" b="1" dirty="0">
                <a:latin typeface="Times New Roman"/>
                <a:cs typeface="Times New Roman"/>
              </a:rPr>
              <a:t>Rakshith AB</a:t>
            </a:r>
          </a:p>
          <a:p>
            <a:pPr marL="12700">
              <a:lnSpc>
                <a:spcPct val="100000"/>
              </a:lnSpc>
              <a:spcBef>
                <a:spcPts val="505"/>
              </a:spcBef>
            </a:pPr>
            <a:r>
              <a:rPr lang="en-US" sz="2000" b="1" dirty="0">
                <a:solidFill>
                  <a:srgbClr val="FFFFFF"/>
                </a:solidFill>
                <a:latin typeface="Times New Roman"/>
                <a:cs typeface="Times New Roman"/>
              </a:rPr>
              <a:t>member</a:t>
            </a:r>
            <a:r>
              <a:rPr lang="en-US" sz="2000" b="1" spc="-65" dirty="0">
                <a:solidFill>
                  <a:srgbClr val="FFFFFF"/>
                </a:solidFill>
                <a:latin typeface="Times New Roman"/>
                <a:cs typeface="Times New Roman"/>
              </a:rPr>
              <a:t> </a:t>
            </a:r>
            <a:r>
              <a:rPr lang="en-US" sz="2000" b="1" dirty="0">
                <a:solidFill>
                  <a:srgbClr val="FFFFFF"/>
                </a:solidFill>
                <a:latin typeface="Times New Roman"/>
                <a:cs typeface="Times New Roman"/>
              </a:rPr>
              <a:t>name3</a:t>
            </a:r>
            <a:r>
              <a:rPr lang="en-US" sz="2000" b="1" spc="-30" dirty="0">
                <a:solidFill>
                  <a:srgbClr val="FFFFFF"/>
                </a:solidFill>
                <a:latin typeface="Times New Roman"/>
                <a:cs typeface="Times New Roman"/>
              </a:rPr>
              <a:t> </a:t>
            </a:r>
            <a:r>
              <a:rPr lang="en-US" sz="2000" b="1" dirty="0">
                <a:solidFill>
                  <a:srgbClr val="FFFFFF"/>
                </a:solidFill>
                <a:latin typeface="Times New Roman"/>
                <a:cs typeface="Times New Roman"/>
              </a:rPr>
              <a:t>–</a:t>
            </a:r>
            <a:r>
              <a:rPr lang="en-US" sz="2000" b="1" spc="-30" dirty="0">
                <a:solidFill>
                  <a:srgbClr val="FFFFFF"/>
                </a:solidFill>
                <a:latin typeface="Times New Roman"/>
                <a:cs typeface="Times New Roman"/>
              </a:rPr>
              <a:t> </a:t>
            </a:r>
            <a:r>
              <a:rPr lang="en-US" sz="2000" b="1" spc="-25" dirty="0">
                <a:solidFill>
                  <a:srgbClr val="FFFFFF"/>
                </a:solidFill>
                <a:latin typeface="Times New Roman"/>
                <a:cs typeface="Times New Roman"/>
              </a:rPr>
              <a:t>USN </a:t>
            </a:r>
            <a:r>
              <a:rPr lang="en-US" sz="2000" b="1" dirty="0">
                <a:solidFill>
                  <a:srgbClr val="FFFFFF"/>
                </a:solidFill>
                <a:latin typeface="Times New Roman"/>
                <a:cs typeface="Times New Roman"/>
              </a:rPr>
              <a:t>Group</a:t>
            </a:r>
            <a:r>
              <a:rPr lang="en-US" sz="2000" b="1" spc="-35" dirty="0">
                <a:solidFill>
                  <a:srgbClr val="FFFFFF"/>
                </a:solidFill>
                <a:latin typeface="Times New Roman"/>
                <a:cs typeface="Times New Roman"/>
              </a:rPr>
              <a:t> </a:t>
            </a:r>
            <a:r>
              <a:rPr lang="en-US" sz="2000" b="1" dirty="0">
                <a:solidFill>
                  <a:srgbClr val="FFFFFF"/>
                </a:solidFill>
                <a:latin typeface="Times New Roman"/>
                <a:cs typeface="Times New Roman"/>
              </a:rPr>
              <a:t>member</a:t>
            </a:r>
            <a:r>
              <a:rPr lang="en-US" sz="2000" b="1" spc="-65" dirty="0">
                <a:solidFill>
                  <a:srgbClr val="FFFFFF"/>
                </a:solidFill>
                <a:latin typeface="Times New Roman"/>
                <a:cs typeface="Times New Roman"/>
              </a:rPr>
              <a:t> </a:t>
            </a:r>
            <a:r>
              <a:rPr lang="en-US" sz="2000" b="1" dirty="0">
                <a:solidFill>
                  <a:srgbClr val="FFFFFF"/>
                </a:solidFill>
                <a:latin typeface="Times New Roman"/>
                <a:cs typeface="Times New Roman"/>
              </a:rPr>
              <a:t>name4</a:t>
            </a:r>
            <a:r>
              <a:rPr lang="en-US" sz="2000" b="1" spc="-30" dirty="0">
                <a:solidFill>
                  <a:srgbClr val="FFFFFF"/>
                </a:solidFill>
                <a:latin typeface="Times New Roman"/>
                <a:cs typeface="Times New Roman"/>
              </a:rPr>
              <a:t> </a:t>
            </a:r>
            <a:r>
              <a:rPr lang="en-US" sz="2000" b="1" dirty="0">
                <a:solidFill>
                  <a:srgbClr val="FFFFFF"/>
                </a:solidFill>
                <a:latin typeface="Times New Roman"/>
                <a:cs typeface="Times New Roman"/>
              </a:rPr>
              <a:t>-</a:t>
            </a:r>
            <a:r>
              <a:rPr lang="en-US" sz="2000" b="1" spc="-30" dirty="0">
                <a:solidFill>
                  <a:srgbClr val="FFFFFF"/>
                </a:solidFill>
                <a:latin typeface="Times New Roman"/>
                <a:cs typeface="Times New Roman"/>
              </a:rPr>
              <a:t> </a:t>
            </a:r>
            <a:r>
              <a:rPr lang="en-US" sz="2000" b="1" spc="-25" dirty="0">
                <a:solidFill>
                  <a:srgbClr val="FFFFFF"/>
                </a:solidFill>
                <a:latin typeface="Times New Roman"/>
                <a:cs typeface="Times New Roman"/>
              </a:rPr>
              <a:t>USN</a:t>
            </a:r>
            <a:endParaRPr lang="en-US" sz="2000" dirty="0">
              <a:latin typeface="Times New Roman"/>
              <a:cs typeface="Times New Roman"/>
            </a:endParaRPr>
          </a:p>
        </p:txBody>
      </p:sp>
      <p:sp>
        <p:nvSpPr>
          <p:cNvPr id="5" name="object 5"/>
          <p:cNvSpPr txBox="1"/>
          <p:nvPr/>
        </p:nvSpPr>
        <p:spPr>
          <a:xfrm>
            <a:off x="1073426" y="280299"/>
            <a:ext cx="10505167" cy="2314736"/>
          </a:xfrm>
          <a:prstGeom prst="rect">
            <a:avLst/>
          </a:prstGeom>
        </p:spPr>
        <p:txBody>
          <a:bodyPr vert="horz" wrap="square" lIns="0" tIns="219710" rIns="0" bIns="0" rtlCol="0">
            <a:spAutoFit/>
          </a:bodyPr>
          <a:lstStyle/>
          <a:p>
            <a:pPr algn="ctr">
              <a:lnSpc>
                <a:spcPct val="100000"/>
              </a:lnSpc>
              <a:spcBef>
                <a:spcPts val="1905"/>
              </a:spcBef>
              <a:tabLst>
                <a:tab pos="3904615" algn="l"/>
              </a:tabLst>
            </a:pPr>
            <a:endParaRPr lang="en-IN" sz="2800" dirty="0">
              <a:latin typeface="Times New Roman"/>
              <a:cs typeface="Times New Roman"/>
            </a:endParaRPr>
          </a:p>
          <a:p>
            <a:pPr algn="ctr">
              <a:lnSpc>
                <a:spcPct val="100000"/>
              </a:lnSpc>
            </a:pPr>
            <a:endParaRPr lang="en-US" sz="3600" b="1" dirty="0">
              <a:solidFill>
                <a:srgbClr val="FFFFFF"/>
              </a:solidFill>
              <a:latin typeface="Times New Roman"/>
              <a:cs typeface="Times New Roman"/>
            </a:endParaRPr>
          </a:p>
          <a:p>
            <a:pPr algn="ctr">
              <a:lnSpc>
                <a:spcPct val="100000"/>
              </a:lnSpc>
            </a:pPr>
            <a:endParaRPr lang="en-US" sz="3600" b="1" dirty="0">
              <a:solidFill>
                <a:srgbClr val="FFFFFF"/>
              </a:solidFill>
              <a:latin typeface="Times New Roman"/>
              <a:cs typeface="Times New Roman"/>
            </a:endParaRPr>
          </a:p>
          <a:p>
            <a:pPr algn="ctr">
              <a:lnSpc>
                <a:spcPct val="100000"/>
              </a:lnSpc>
            </a:pPr>
            <a:r>
              <a:rPr lang="en-US" sz="3600" b="1" dirty="0">
                <a:solidFill>
                  <a:srgbClr val="FFFFFF"/>
                </a:solidFill>
                <a:latin typeface="Times New Roman"/>
                <a:cs typeface="Times New Roman"/>
              </a:rPr>
              <a:t>MAC-OS BOOTING PROCESS</a:t>
            </a:r>
            <a:endParaRPr lang="en-US" sz="36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99399" y="304800"/>
            <a:ext cx="9070655" cy="735634"/>
          </a:xfrm>
          <a:prstGeom prst="rect">
            <a:avLst/>
          </a:prstGeom>
        </p:spPr>
        <p:txBody>
          <a:bodyPr vert="horz" wrap="square" lIns="0" tIns="179880" rIns="0" bIns="0" rtlCol="0">
            <a:spAutoFit/>
          </a:bodyPr>
          <a:lstStyle/>
          <a:p>
            <a:pPr marL="1676400">
              <a:lnSpc>
                <a:spcPct val="100000"/>
              </a:lnSpc>
              <a:spcBef>
                <a:spcPts val="100"/>
              </a:spcBef>
            </a:pPr>
            <a:r>
              <a:rPr lang="en-IN" sz="3600" dirty="0">
                <a:solidFill>
                  <a:srgbClr val="548BB7"/>
                </a:solidFill>
                <a:latin typeface="Times New Roman"/>
                <a:cs typeface="Times New Roman"/>
              </a:rPr>
              <a:t>Power on and firmware Initialization </a:t>
            </a:r>
            <a:endParaRPr lang="en-IN" sz="3600" dirty="0">
              <a:latin typeface="Times New Roman"/>
              <a:cs typeface="Times New Roman"/>
            </a:endParaRPr>
          </a:p>
        </p:txBody>
      </p:sp>
      <p:sp>
        <p:nvSpPr>
          <p:cNvPr id="3" name="object 3"/>
          <p:cNvSpPr txBox="1"/>
          <p:nvPr/>
        </p:nvSpPr>
        <p:spPr>
          <a:xfrm>
            <a:off x="762000" y="1676400"/>
            <a:ext cx="10147935" cy="2659702"/>
          </a:xfrm>
          <a:prstGeom prst="rect">
            <a:avLst/>
          </a:prstGeom>
        </p:spPr>
        <p:txBody>
          <a:bodyPr vert="horz" wrap="square" lIns="0" tIns="12700" rIns="0" bIns="0" rtlCol="0">
            <a:spAutoFit/>
          </a:bodyPr>
          <a:lstStyle/>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When a Mac is powered on, Apple EFI firmware begins execution and performs basic hardware checks.</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The firmware initializes system components such as memory, storage, and input devices.</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It verifies the integrity of the macOS boot volume, especially on systems with Secure Boot enabled.</a:t>
            </a:r>
          </a:p>
          <a:p>
            <a:pPr marL="302260" marR="141605" lvl="1" indent="-229235">
              <a:lnSpc>
                <a:spcPct val="85100"/>
              </a:lnSpc>
              <a:spcBef>
                <a:spcPts val="2030"/>
              </a:spcBef>
              <a:buClr>
                <a:srgbClr val="000000"/>
              </a:buClr>
              <a:buFontTx/>
              <a:buChar char="•"/>
              <a:tabLst>
                <a:tab pos="302260" algn="l"/>
              </a:tabLst>
            </a:pPr>
            <a:r>
              <a:rPr lang="en-US" sz="2000" dirty="0">
                <a:solidFill>
                  <a:srgbClr val="252525"/>
                </a:solidFill>
                <a:latin typeface="Times New Roman"/>
                <a:cs typeface="Times New Roman"/>
              </a:rPr>
              <a:t>Once verification is complete, control is transferred to the macOS bootloader.</a:t>
            </a:r>
          </a:p>
          <a:p>
            <a:pPr marL="113665" indent="-229235">
              <a:buChar char="•"/>
            </a:pPr>
            <a:endParaRPr lang="en-US" sz="2000" dirty="0">
              <a:solidFill>
                <a:srgbClr val="252525"/>
              </a:solidFill>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609600" y="152400"/>
            <a:ext cx="9070655" cy="897892"/>
          </a:xfrm>
          <a:prstGeom prst="rect">
            <a:avLst/>
          </a:prstGeom>
        </p:spPr>
        <p:txBody>
          <a:bodyPr vert="horz" wrap="square" lIns="0" tIns="191603" rIns="0" bIns="0" rtlCol="0">
            <a:spAutoFit/>
          </a:bodyPr>
          <a:lstStyle/>
          <a:p>
            <a:pPr marL="3192145">
              <a:lnSpc>
                <a:spcPct val="100000"/>
              </a:lnSpc>
              <a:spcBef>
                <a:spcPts val="100"/>
              </a:spcBef>
            </a:pPr>
            <a:r>
              <a:rPr lang="en-IN" sz="4400" spc="-10" dirty="0">
                <a:solidFill>
                  <a:srgbClr val="548BB7"/>
                </a:solidFill>
                <a:latin typeface="Times New Roman"/>
                <a:cs typeface="Times New Roman"/>
              </a:rPr>
              <a:t>Bootloader</a:t>
            </a:r>
            <a:endParaRPr sz="4400" dirty="0">
              <a:latin typeface="Times New Roman"/>
              <a:cs typeface="Times New Roman"/>
            </a:endParaRPr>
          </a:p>
        </p:txBody>
      </p:sp>
      <p:sp>
        <p:nvSpPr>
          <p:cNvPr id="3" name="object 3"/>
          <p:cNvSpPr txBox="1"/>
          <p:nvPr/>
        </p:nvSpPr>
        <p:spPr>
          <a:xfrm>
            <a:off x="839151" y="1676400"/>
            <a:ext cx="10513695" cy="1875513"/>
          </a:xfrm>
          <a:prstGeom prst="rect">
            <a:avLst/>
          </a:prstGeom>
        </p:spPr>
        <p:txBody>
          <a:bodyPr vert="horz" wrap="square" lIns="0" tIns="59055" rIns="0" bIns="0" rtlCol="0">
            <a:spAutoFit/>
          </a:bodyPr>
          <a:lstStyle/>
          <a:p>
            <a:pPr marL="302260" marR="141605" lvl="1" indent="-229235">
              <a:lnSpc>
                <a:spcPct val="85100"/>
              </a:lnSpc>
              <a:spcBef>
                <a:spcPts val="2030"/>
              </a:spcBef>
              <a:buClr>
                <a:srgbClr val="000000"/>
              </a:buClr>
              <a:buFont typeface="Arial MT"/>
              <a:buChar char="•"/>
              <a:tabLst>
                <a:tab pos="302260" algn="l"/>
              </a:tabLst>
            </a:pPr>
            <a:r>
              <a:rPr lang="en-US" sz="2000" dirty="0">
                <a:solidFill>
                  <a:srgbClr val="252525"/>
                </a:solidFill>
                <a:latin typeface="Times New Roman"/>
                <a:cs typeface="Times New Roman"/>
              </a:rPr>
              <a:t>The macOS bootloader, boot.efi, is responsible for loading the macOS kernel into memory.</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It verifies kernel integrity and loads the kernel cache for faster startup.</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Required boot arguments and system configurations are passed to the kernel.</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Control is then handed over to the macOS kernel for further initialization.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19400" y="228600"/>
            <a:ext cx="8095738" cy="689932"/>
          </a:xfrm>
          <a:prstGeom prst="rect">
            <a:avLst/>
          </a:prstGeom>
        </p:spPr>
        <p:txBody>
          <a:bodyPr vert="horz" wrap="square" lIns="0" tIns="12700" rIns="0" bIns="0" rtlCol="0">
            <a:spAutoFit/>
          </a:bodyPr>
          <a:lstStyle/>
          <a:p>
            <a:pPr marL="12700">
              <a:lnSpc>
                <a:spcPct val="100000"/>
              </a:lnSpc>
              <a:spcBef>
                <a:spcPts val="100"/>
              </a:spcBef>
              <a:tabLst>
                <a:tab pos="1877695" algn="l"/>
              </a:tabLst>
            </a:pPr>
            <a:r>
              <a:rPr lang="en-IN" sz="4400" b="1" spc="-10" dirty="0">
                <a:solidFill>
                  <a:srgbClr val="548BB7"/>
                </a:solidFill>
                <a:latin typeface="Times New Roman"/>
                <a:cs typeface="Times New Roman"/>
              </a:rPr>
              <a:t>Kernel Initialization </a:t>
            </a:r>
            <a:endParaRPr sz="4400" dirty="0">
              <a:latin typeface="Times New Roman"/>
              <a:cs typeface="Times New Roman"/>
            </a:endParaRPr>
          </a:p>
        </p:txBody>
      </p:sp>
      <p:sp>
        <p:nvSpPr>
          <p:cNvPr id="3" name="object 3"/>
          <p:cNvSpPr txBox="1"/>
          <p:nvPr/>
        </p:nvSpPr>
        <p:spPr>
          <a:xfrm>
            <a:off x="914400" y="1676400"/>
            <a:ext cx="9653180" cy="2090316"/>
          </a:xfrm>
          <a:prstGeom prst="rect">
            <a:avLst/>
          </a:prstGeom>
        </p:spPr>
        <p:txBody>
          <a:bodyPr vert="horz" wrap="square" lIns="0" tIns="12700" rIns="0" bIns="0" rtlCol="0">
            <a:spAutoFit/>
          </a:bodyPr>
          <a:lstStyle/>
          <a:p>
            <a:pPr marL="302260" marR="141605" lvl="1" indent="-229235">
              <a:lnSpc>
                <a:spcPct val="85100"/>
              </a:lnSpc>
              <a:spcBef>
                <a:spcPts val="2030"/>
              </a:spcBef>
              <a:buClr>
                <a:srgbClr val="000000"/>
              </a:buClr>
              <a:buFont typeface="Arial MT"/>
              <a:buChar char="•"/>
              <a:tabLst>
                <a:tab pos="302260" algn="l"/>
              </a:tabLst>
            </a:pPr>
            <a:r>
              <a:rPr lang="en-US" sz="2000" dirty="0">
                <a:solidFill>
                  <a:srgbClr val="252525"/>
                </a:solidFill>
                <a:latin typeface="Times New Roman"/>
                <a:cs typeface="Times New Roman"/>
              </a:rPr>
              <a:t>The macOS kernel, known as XNU, initializes CPU scheduling, memory management, and device drivers.</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Kernel extensions required for hardware support are loaded during this stage.</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The kernel mounts the root filesystem needed for system operation.</a:t>
            </a:r>
          </a:p>
          <a:p>
            <a:pPr marL="302260" marR="141605" lvl="1" indent="-229235">
              <a:lnSpc>
                <a:spcPct val="85100"/>
              </a:lnSpc>
              <a:spcBef>
                <a:spcPts val="2030"/>
              </a:spcBef>
              <a:buClr>
                <a:srgbClr val="000000"/>
              </a:buClr>
              <a:buChar char="•"/>
              <a:tabLst>
                <a:tab pos="302260" algn="l"/>
              </a:tabLst>
            </a:pPr>
            <a:r>
              <a:rPr lang="en-US" sz="2000" dirty="0">
                <a:solidFill>
                  <a:srgbClr val="252525"/>
                </a:solidFill>
                <a:latin typeface="Times New Roman"/>
                <a:cs typeface="Times New Roman"/>
              </a:rPr>
              <a:t>After initialization, the kernel starts ‘launchd’ as the first system 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60672" y="-42698"/>
            <a:ext cx="9070655" cy="843369"/>
          </a:xfrm>
          <a:prstGeom prst="rect">
            <a:avLst/>
          </a:prstGeom>
        </p:spPr>
        <p:txBody>
          <a:bodyPr vert="horz" wrap="square" lIns="0" tIns="164653" rIns="0" bIns="0" rtlCol="0">
            <a:spAutoFit/>
          </a:bodyPr>
          <a:lstStyle/>
          <a:p>
            <a:pPr marL="12700">
              <a:spcBef>
                <a:spcPts val="100"/>
              </a:spcBef>
              <a:tabLst>
                <a:tab pos="1877695" algn="l"/>
              </a:tabLst>
            </a:pPr>
            <a:r>
              <a:rPr lang="en-IN" sz="4400" spc="-10" dirty="0">
                <a:solidFill>
                  <a:srgbClr val="548BB7"/>
                </a:solidFill>
                <a:latin typeface="Times New Roman"/>
                <a:cs typeface="Times New Roman"/>
              </a:rPr>
              <a:t>		</a:t>
            </a:r>
            <a:r>
              <a:rPr sz="4400" spc="-10" dirty="0">
                <a:solidFill>
                  <a:srgbClr val="548BB7"/>
                </a:solidFill>
                <a:latin typeface="Times New Roman"/>
                <a:cs typeface="Times New Roman"/>
              </a:rPr>
              <a:t>Conclusion</a:t>
            </a:r>
          </a:p>
        </p:txBody>
      </p:sp>
      <p:sp>
        <p:nvSpPr>
          <p:cNvPr id="3" name="object 3"/>
          <p:cNvSpPr txBox="1"/>
          <p:nvPr/>
        </p:nvSpPr>
        <p:spPr>
          <a:xfrm>
            <a:off x="841120" y="1613825"/>
            <a:ext cx="10665079" cy="1192634"/>
          </a:xfrm>
          <a:prstGeom prst="rect">
            <a:avLst/>
          </a:prstGeom>
        </p:spPr>
        <p:txBody>
          <a:bodyPr vert="horz" wrap="square" lIns="0" tIns="12700" rIns="0" bIns="0" rtlCol="0">
            <a:spAutoFit/>
          </a:bodyPr>
          <a:lstStyle/>
          <a:p>
            <a:pPr marL="12065" marR="193675">
              <a:lnSpc>
                <a:spcPts val="2300"/>
              </a:lnSpc>
              <a:spcBef>
                <a:spcPts val="10"/>
              </a:spcBef>
              <a:buSzPct val="50000"/>
              <a:tabLst>
                <a:tab pos="241300" algn="l"/>
              </a:tabLst>
            </a:pPr>
            <a:r>
              <a:rPr lang="en-US" sz="2000" dirty="0">
                <a:solidFill>
                  <a:srgbClr val="252525"/>
                </a:solidFill>
                <a:latin typeface="Times New Roman"/>
                <a:cs typeface="Times New Roman"/>
              </a:rPr>
              <a:t>The macOS booting process emphasizes system integrity and security through firmware verification and controlled kernel loading. Each stage ensures that only trusted software is executed during startup. This secure boot architecture helps protect macOS systems from boot-level malware and unauthorized modifications.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608</TotalTime>
  <Words>249</Words>
  <Application>Microsoft Office PowerPoint</Application>
  <PresentationFormat>Widescreen</PresentationFormat>
  <Paragraphs>25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 MT</vt:lpstr>
      <vt:lpstr>Calibri</vt:lpstr>
      <vt:lpstr>Cambria</vt:lpstr>
      <vt:lpstr>Times New Roman</vt:lpstr>
      <vt:lpstr>Office Theme</vt:lpstr>
      <vt:lpstr>PowerPoint Presentation</vt:lpstr>
      <vt:lpstr>Power on and firmware Initialization </vt:lpstr>
      <vt:lpstr>Bootloader</vt:lpstr>
      <vt:lpstr>PowerPoint Presentation</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 Template - Phase II.pptx</dc:title>
  <dc:creator>Rakshith</dc:creator>
  <cp:lastModifiedBy>Rakshit Ab</cp:lastModifiedBy>
  <cp:revision>37</cp:revision>
  <dcterms:created xsi:type="dcterms:W3CDTF">2025-10-22T14:46:34Z</dcterms:created>
  <dcterms:modified xsi:type="dcterms:W3CDTF">2026-02-12T09:18:36Z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2025-10-22T00:00:00Z</vt:filetime>
  </property>
  <property fmtid="{D5CDD505-2E9C-101B-9397-08002B2CF9AE}" pid="3" name="Creator">
    <vt:lpwstr>Google</vt:lpwstr>
  </property>
  <property fmtid="{D5CDD505-2E9C-101B-9397-08002B2CF9AE}" pid="4" name="LastSaved">
    <vt:filetime>2025-10-22T00:00:00Z</vt:filetime>
  </property>
</Properties>
</file>