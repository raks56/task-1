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83" r:id="rId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02" autoAdjust="0"/>
  </p:normalViewPr>
  <p:slideViewPr>
    <p:cSldViewPr>
      <p:cViewPr varScale="1">
        <p:scale>
          <a:sx n="84" d="100"/>
          <a:sy n="84" d="100"/>
        </p:scale>
        <p:origin x="629"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60672" y="-42698"/>
            <a:ext cx="9070655" cy="897892"/>
          </a:xfrm>
          <a:prstGeom prst="rect">
            <a:avLst/>
          </a:prstGeom>
        </p:spPr>
        <p:txBody>
          <a:bodyPr wrap="square" lIns="0" tIns="0" rIns="0" bIns="0">
            <a:spAutoFit/>
          </a:bodyPr>
          <a:lstStyle>
            <a:lvl1pPr>
              <a:defRPr sz="60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5" name="Holder 5"/>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5" name="Holder 5"/>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6" name="Holder 6"/>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4" name="Holder 4"/>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3" name="Holder 3"/>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30755" y="2631261"/>
            <a:ext cx="8910320" cy="1527131"/>
          </a:xfrm>
          <a:prstGeom prst="rect">
            <a:avLst/>
          </a:prstGeom>
        </p:spPr>
        <p:txBody>
          <a:bodyPr wrap="square" lIns="0" tIns="0" rIns="0" bIns="0">
            <a:spAutoFit/>
          </a:bodyPr>
          <a:lstStyle>
            <a:lvl1pPr>
              <a:defRPr sz="6000" b="1" i="0">
                <a:solidFill>
                  <a:schemeClr val="bg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850368" y="6443841"/>
            <a:ext cx="4584221" cy="270293"/>
          </a:xfrm>
          <a:prstGeom prst="rect">
            <a:avLst/>
          </a:prstGeom>
        </p:spPr>
        <p:txBody>
          <a:bodyPr wrap="square" lIns="0" tIns="0" rIns="0" bIns="0">
            <a:spAutoFit/>
          </a:bodyPr>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5" name="Holder 5"/>
          <p:cNvSpPr>
            <a:spLocks noGrp="1"/>
          </p:cNvSpPr>
          <p:nvPr>
            <p:ph type="dt" sz="half" idx="6"/>
          </p:nvPr>
        </p:nvSpPr>
        <p:spPr>
          <a:xfrm>
            <a:off x="432254" y="6443841"/>
            <a:ext cx="1134291" cy="270293"/>
          </a:xfrm>
          <a:prstGeom prst="rect">
            <a:avLst/>
          </a:prstGeom>
        </p:spPr>
        <p:txBody>
          <a:bodyPr wrap="square" lIns="0" tIns="0" rIns="0" bIns="0">
            <a:spAutoFit/>
          </a:bodyPr>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87001"/>
            <a:ext cx="12192000" cy="2786971"/>
          </a:xfrm>
          <a:custGeom>
            <a:avLst/>
            <a:gdLst/>
            <a:ahLst/>
            <a:cxnLst/>
            <a:rect l="l" t="t" r="r" b="b"/>
            <a:pathLst>
              <a:path w="12192000" h="2533650">
                <a:moveTo>
                  <a:pt x="12191999" y="2533612"/>
                </a:moveTo>
                <a:lnTo>
                  <a:pt x="0" y="2533612"/>
                </a:lnTo>
                <a:lnTo>
                  <a:pt x="0" y="0"/>
                </a:lnTo>
                <a:lnTo>
                  <a:pt x="12191999" y="0"/>
                </a:lnTo>
                <a:lnTo>
                  <a:pt x="12191999" y="2533612"/>
                </a:lnTo>
                <a:close/>
              </a:path>
            </a:pathLst>
          </a:custGeom>
          <a:solidFill>
            <a:srgbClr val="345D7E"/>
          </a:solidFill>
        </p:spPr>
        <p:txBody>
          <a:bodyPr wrap="square" lIns="0" tIns="0" rIns="0" bIns="0" rtlCol="0"/>
          <a:lstStyle/>
          <a:p>
            <a:endParaRPr dirty="0"/>
          </a:p>
        </p:txBody>
      </p:sp>
      <p:sp>
        <p:nvSpPr>
          <p:cNvPr id="3" name="object 3"/>
          <p:cNvSpPr txBox="1"/>
          <p:nvPr/>
        </p:nvSpPr>
        <p:spPr>
          <a:xfrm>
            <a:off x="7239000" y="4051367"/>
            <a:ext cx="4494224" cy="1804404"/>
          </a:xfrm>
          <a:prstGeom prst="rect">
            <a:avLst/>
          </a:prstGeom>
        </p:spPr>
        <p:txBody>
          <a:bodyPr vert="horz" wrap="square" lIns="0" tIns="120014" rIns="0" bIns="0" rtlCol="0">
            <a:spAutoFit/>
          </a:bodyPr>
          <a:lstStyle/>
          <a:p>
            <a:pPr marL="12700" algn="just">
              <a:lnSpc>
                <a:spcPct val="100000"/>
              </a:lnSpc>
              <a:spcBef>
                <a:spcPts val="944"/>
              </a:spcBef>
            </a:pPr>
            <a:r>
              <a:rPr sz="1800" b="1" spc="-10" dirty="0">
                <a:solidFill>
                  <a:srgbClr val="0C0C0C"/>
                </a:solidFill>
                <a:latin typeface="Times New Roman"/>
                <a:cs typeface="Times New Roman"/>
              </a:rPr>
              <a:t>Presented</a:t>
            </a:r>
            <a:r>
              <a:rPr sz="1800" b="1" spc="-65" dirty="0">
                <a:solidFill>
                  <a:srgbClr val="0C0C0C"/>
                </a:solidFill>
                <a:latin typeface="Times New Roman"/>
                <a:cs typeface="Times New Roman"/>
              </a:rPr>
              <a:t> </a:t>
            </a:r>
            <a:r>
              <a:rPr sz="1800" b="1" spc="-25" dirty="0">
                <a:solidFill>
                  <a:srgbClr val="0C0C0C"/>
                </a:solidFill>
                <a:latin typeface="Times New Roman"/>
                <a:cs typeface="Times New Roman"/>
              </a:rPr>
              <a:t>By:</a:t>
            </a:r>
            <a:endParaRPr lang="en-IN" b="1" spc="-25" dirty="0">
              <a:solidFill>
                <a:srgbClr val="0C0C0C"/>
              </a:solidFill>
              <a:latin typeface="Times New Roman"/>
              <a:cs typeface="Times New Roman"/>
            </a:endParaRPr>
          </a:p>
          <a:p>
            <a:pPr marL="12700" algn="just">
              <a:lnSpc>
                <a:spcPct val="100000"/>
              </a:lnSpc>
              <a:spcBef>
                <a:spcPts val="944"/>
              </a:spcBef>
            </a:pPr>
            <a:endParaRPr lang="en-IN" b="1" spc="-25" dirty="0">
              <a:solidFill>
                <a:srgbClr val="0C0C0C"/>
              </a:solidFill>
              <a:latin typeface="Times New Roman"/>
              <a:cs typeface="Times New Roman"/>
            </a:endParaRPr>
          </a:p>
          <a:p>
            <a:pPr marL="12700" marR="673735">
              <a:lnSpc>
                <a:spcPct val="115599"/>
              </a:lnSpc>
              <a:spcBef>
                <a:spcPts val="100"/>
              </a:spcBef>
            </a:pPr>
            <a:r>
              <a:rPr lang="en-IN" b="1" dirty="0">
                <a:latin typeface="Times New Roman"/>
                <a:cs typeface="Times New Roman"/>
              </a:rPr>
              <a:t>Rakshith AB</a:t>
            </a:r>
          </a:p>
          <a:p>
            <a:pPr marL="12700">
              <a:lnSpc>
                <a:spcPct val="100000"/>
              </a:lnSpc>
              <a:spcBef>
                <a:spcPts val="505"/>
              </a:spcBef>
            </a:pPr>
            <a:r>
              <a:rPr lang="en-US" sz="2000" b="1" dirty="0">
                <a:solidFill>
                  <a:srgbClr val="FFFFFF"/>
                </a:solidFill>
                <a:latin typeface="Times New Roman"/>
                <a:cs typeface="Times New Roman"/>
              </a:rPr>
              <a:t>member</a:t>
            </a:r>
            <a:r>
              <a:rPr lang="en-US" sz="2000" b="1" spc="-65" dirty="0">
                <a:solidFill>
                  <a:srgbClr val="FFFFFF"/>
                </a:solidFill>
                <a:latin typeface="Times New Roman"/>
                <a:cs typeface="Times New Roman"/>
              </a:rPr>
              <a:t> </a:t>
            </a:r>
            <a:r>
              <a:rPr lang="en-US" sz="2000" b="1" dirty="0">
                <a:solidFill>
                  <a:srgbClr val="FFFFFF"/>
                </a:solidFill>
                <a:latin typeface="Times New Roman"/>
                <a:cs typeface="Times New Roman"/>
              </a:rPr>
              <a:t>name3</a:t>
            </a:r>
            <a:r>
              <a:rPr lang="en-US" sz="2000" b="1" spc="-30" dirty="0">
                <a:solidFill>
                  <a:srgbClr val="FFFFFF"/>
                </a:solidFill>
                <a:latin typeface="Times New Roman"/>
                <a:cs typeface="Times New Roman"/>
              </a:rPr>
              <a:t> </a:t>
            </a:r>
            <a:r>
              <a:rPr lang="en-US" sz="2000" b="1" dirty="0">
                <a:solidFill>
                  <a:srgbClr val="FFFFFF"/>
                </a:solidFill>
                <a:latin typeface="Times New Roman"/>
                <a:cs typeface="Times New Roman"/>
              </a:rPr>
              <a:t>–</a:t>
            </a:r>
            <a:r>
              <a:rPr lang="en-US" sz="2000" b="1" spc="-30" dirty="0">
                <a:solidFill>
                  <a:srgbClr val="FFFFFF"/>
                </a:solidFill>
                <a:latin typeface="Times New Roman"/>
                <a:cs typeface="Times New Roman"/>
              </a:rPr>
              <a:t> </a:t>
            </a:r>
            <a:r>
              <a:rPr lang="en-US" sz="2000" b="1" spc="-25" dirty="0">
                <a:solidFill>
                  <a:srgbClr val="FFFFFF"/>
                </a:solidFill>
                <a:latin typeface="Times New Roman"/>
                <a:cs typeface="Times New Roman"/>
              </a:rPr>
              <a:t>USN </a:t>
            </a:r>
            <a:r>
              <a:rPr lang="en-US" sz="2000" b="1" dirty="0">
                <a:solidFill>
                  <a:srgbClr val="FFFFFF"/>
                </a:solidFill>
                <a:latin typeface="Times New Roman"/>
                <a:cs typeface="Times New Roman"/>
              </a:rPr>
              <a:t>Group</a:t>
            </a:r>
            <a:r>
              <a:rPr lang="en-US" sz="2000" b="1" spc="-35" dirty="0">
                <a:solidFill>
                  <a:srgbClr val="FFFFFF"/>
                </a:solidFill>
                <a:latin typeface="Times New Roman"/>
                <a:cs typeface="Times New Roman"/>
              </a:rPr>
              <a:t> </a:t>
            </a:r>
            <a:r>
              <a:rPr lang="en-US" sz="2000" b="1" dirty="0">
                <a:solidFill>
                  <a:srgbClr val="FFFFFF"/>
                </a:solidFill>
                <a:latin typeface="Times New Roman"/>
                <a:cs typeface="Times New Roman"/>
              </a:rPr>
              <a:t>member</a:t>
            </a:r>
            <a:r>
              <a:rPr lang="en-US" sz="2000" b="1" spc="-65" dirty="0">
                <a:solidFill>
                  <a:srgbClr val="FFFFFF"/>
                </a:solidFill>
                <a:latin typeface="Times New Roman"/>
                <a:cs typeface="Times New Roman"/>
              </a:rPr>
              <a:t> </a:t>
            </a:r>
            <a:r>
              <a:rPr lang="en-US" sz="2000" b="1" dirty="0">
                <a:solidFill>
                  <a:srgbClr val="FFFFFF"/>
                </a:solidFill>
                <a:latin typeface="Times New Roman"/>
                <a:cs typeface="Times New Roman"/>
              </a:rPr>
              <a:t>name4</a:t>
            </a:r>
            <a:r>
              <a:rPr lang="en-US" sz="2000" b="1" spc="-30" dirty="0">
                <a:solidFill>
                  <a:srgbClr val="FFFFFF"/>
                </a:solidFill>
                <a:latin typeface="Times New Roman"/>
                <a:cs typeface="Times New Roman"/>
              </a:rPr>
              <a:t> </a:t>
            </a:r>
            <a:r>
              <a:rPr lang="en-US" sz="2000" b="1" dirty="0">
                <a:solidFill>
                  <a:srgbClr val="FFFFFF"/>
                </a:solidFill>
                <a:latin typeface="Times New Roman"/>
                <a:cs typeface="Times New Roman"/>
              </a:rPr>
              <a:t>-</a:t>
            </a:r>
            <a:r>
              <a:rPr lang="en-US" sz="2000" b="1" spc="-30" dirty="0">
                <a:solidFill>
                  <a:srgbClr val="FFFFFF"/>
                </a:solidFill>
                <a:latin typeface="Times New Roman"/>
                <a:cs typeface="Times New Roman"/>
              </a:rPr>
              <a:t> </a:t>
            </a:r>
            <a:r>
              <a:rPr lang="en-US" sz="2000" b="1" spc="-25" dirty="0">
                <a:solidFill>
                  <a:srgbClr val="FFFFFF"/>
                </a:solidFill>
                <a:latin typeface="Times New Roman"/>
                <a:cs typeface="Times New Roman"/>
              </a:rPr>
              <a:t>USN</a:t>
            </a:r>
            <a:endParaRPr lang="en-US" sz="2000" dirty="0">
              <a:latin typeface="Times New Roman"/>
              <a:cs typeface="Times New Roman"/>
            </a:endParaRPr>
          </a:p>
        </p:txBody>
      </p:sp>
      <p:sp>
        <p:nvSpPr>
          <p:cNvPr id="5" name="object 5"/>
          <p:cNvSpPr txBox="1"/>
          <p:nvPr/>
        </p:nvSpPr>
        <p:spPr>
          <a:xfrm>
            <a:off x="1073426" y="280299"/>
            <a:ext cx="10505167" cy="2314736"/>
          </a:xfrm>
          <a:prstGeom prst="rect">
            <a:avLst/>
          </a:prstGeom>
        </p:spPr>
        <p:txBody>
          <a:bodyPr vert="horz" wrap="square" lIns="0" tIns="219710" rIns="0" bIns="0" rtlCol="0">
            <a:spAutoFit/>
          </a:bodyPr>
          <a:lstStyle/>
          <a:p>
            <a:pPr algn="ctr">
              <a:lnSpc>
                <a:spcPct val="100000"/>
              </a:lnSpc>
              <a:spcBef>
                <a:spcPts val="1905"/>
              </a:spcBef>
              <a:tabLst>
                <a:tab pos="3904615" algn="l"/>
              </a:tabLst>
            </a:pPr>
            <a:endParaRPr lang="en-IN" sz="2800" dirty="0">
              <a:latin typeface="Times New Roman"/>
              <a:cs typeface="Times New Roman"/>
            </a:endParaRPr>
          </a:p>
          <a:p>
            <a:pPr algn="ctr">
              <a:lnSpc>
                <a:spcPct val="100000"/>
              </a:lnSpc>
            </a:pPr>
            <a:endParaRPr lang="en-US" sz="3600" b="1" dirty="0">
              <a:solidFill>
                <a:srgbClr val="FFFFFF"/>
              </a:solidFill>
              <a:latin typeface="Times New Roman"/>
              <a:cs typeface="Times New Roman"/>
            </a:endParaRPr>
          </a:p>
          <a:p>
            <a:pPr algn="ctr">
              <a:lnSpc>
                <a:spcPct val="100000"/>
              </a:lnSpc>
            </a:pPr>
            <a:endParaRPr lang="en-US" sz="3600" b="1" dirty="0">
              <a:solidFill>
                <a:srgbClr val="FFFFFF"/>
              </a:solidFill>
              <a:latin typeface="Times New Roman"/>
              <a:cs typeface="Times New Roman"/>
            </a:endParaRPr>
          </a:p>
          <a:p>
            <a:pPr algn="ctr">
              <a:lnSpc>
                <a:spcPct val="100000"/>
              </a:lnSpc>
            </a:pPr>
            <a:r>
              <a:rPr lang="en-US" sz="3600" b="1" dirty="0">
                <a:solidFill>
                  <a:srgbClr val="FFFFFF"/>
                </a:solidFill>
                <a:latin typeface="Times New Roman"/>
                <a:cs typeface="Times New Roman"/>
              </a:rPr>
              <a:t>ANDROID BOOTING PROCESS</a:t>
            </a:r>
            <a:endParaRPr lang="en-US" sz="36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99399" y="304800"/>
            <a:ext cx="9070655" cy="735634"/>
          </a:xfrm>
          <a:prstGeom prst="rect">
            <a:avLst/>
          </a:prstGeom>
        </p:spPr>
        <p:txBody>
          <a:bodyPr vert="horz" wrap="square" lIns="0" tIns="179880" rIns="0" bIns="0" rtlCol="0">
            <a:spAutoFit/>
          </a:bodyPr>
          <a:lstStyle/>
          <a:p>
            <a:pPr marL="1676400">
              <a:lnSpc>
                <a:spcPct val="100000"/>
              </a:lnSpc>
              <a:spcBef>
                <a:spcPts val="100"/>
              </a:spcBef>
            </a:pPr>
            <a:r>
              <a:rPr lang="en-IN" sz="3600" dirty="0">
                <a:solidFill>
                  <a:srgbClr val="548BB7"/>
                </a:solidFill>
                <a:latin typeface="Times New Roman"/>
                <a:cs typeface="Times New Roman"/>
              </a:rPr>
              <a:t>Boot ROM and Power Initialization </a:t>
            </a:r>
            <a:endParaRPr lang="en-IN" sz="3600" dirty="0">
              <a:latin typeface="Times New Roman"/>
              <a:cs typeface="Times New Roman"/>
            </a:endParaRPr>
          </a:p>
        </p:txBody>
      </p:sp>
      <p:sp>
        <p:nvSpPr>
          <p:cNvPr id="3" name="object 3"/>
          <p:cNvSpPr txBox="1"/>
          <p:nvPr/>
        </p:nvSpPr>
        <p:spPr>
          <a:xfrm>
            <a:off x="762000" y="1676400"/>
            <a:ext cx="10147935" cy="2659702"/>
          </a:xfrm>
          <a:prstGeom prst="rect">
            <a:avLst/>
          </a:prstGeom>
        </p:spPr>
        <p:txBody>
          <a:bodyPr vert="horz" wrap="square" lIns="0" tIns="12700" rIns="0" bIns="0" rtlCol="0">
            <a:spAutoFit/>
          </a:bodyPr>
          <a:lstStyle/>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When an Android device is powered on, the Boot ROM code stored in read-only memory is executed.</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The Boot ROM performs basic hardware initialization and verifies the integrity of the bootloader.</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This step ensures that only trusted boot components are allowed to run.</a:t>
            </a:r>
          </a:p>
          <a:p>
            <a:pPr marL="302260" marR="141605" lvl="1" indent="-229235">
              <a:lnSpc>
                <a:spcPct val="85100"/>
              </a:lnSpc>
              <a:spcBef>
                <a:spcPts val="2030"/>
              </a:spcBef>
              <a:buClr>
                <a:srgbClr val="000000"/>
              </a:buClr>
              <a:buFontTx/>
              <a:buChar char="•"/>
              <a:tabLst>
                <a:tab pos="302260" algn="l"/>
              </a:tabLst>
            </a:pPr>
            <a:r>
              <a:rPr lang="en-US" sz="2000" dirty="0">
                <a:solidFill>
                  <a:srgbClr val="252525"/>
                </a:solidFill>
                <a:latin typeface="Times New Roman"/>
                <a:cs typeface="Times New Roman"/>
              </a:rPr>
              <a:t>Control is then passed to the device bootloader.</a:t>
            </a:r>
          </a:p>
          <a:p>
            <a:pPr marL="113665" indent="-229235">
              <a:buChar char="•"/>
            </a:pPr>
            <a:endParaRPr lang="en-US" sz="2000" dirty="0">
              <a:solidFill>
                <a:srgbClr val="252525"/>
              </a:solidFill>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609600" y="152400"/>
            <a:ext cx="9070655" cy="897892"/>
          </a:xfrm>
          <a:prstGeom prst="rect">
            <a:avLst/>
          </a:prstGeom>
        </p:spPr>
        <p:txBody>
          <a:bodyPr vert="horz" wrap="square" lIns="0" tIns="191603" rIns="0" bIns="0" rtlCol="0">
            <a:spAutoFit/>
          </a:bodyPr>
          <a:lstStyle/>
          <a:p>
            <a:pPr marL="3192145">
              <a:lnSpc>
                <a:spcPct val="100000"/>
              </a:lnSpc>
              <a:spcBef>
                <a:spcPts val="100"/>
              </a:spcBef>
            </a:pPr>
            <a:r>
              <a:rPr lang="en-IN" sz="4400" spc="-10" dirty="0">
                <a:solidFill>
                  <a:srgbClr val="548BB7"/>
                </a:solidFill>
                <a:latin typeface="Times New Roman"/>
                <a:cs typeface="Times New Roman"/>
              </a:rPr>
              <a:t>Bootloader</a:t>
            </a:r>
            <a:endParaRPr sz="4400" dirty="0">
              <a:latin typeface="Times New Roman"/>
              <a:cs typeface="Times New Roman"/>
            </a:endParaRPr>
          </a:p>
        </p:txBody>
      </p:sp>
      <p:sp>
        <p:nvSpPr>
          <p:cNvPr id="3" name="object 3"/>
          <p:cNvSpPr txBox="1"/>
          <p:nvPr/>
        </p:nvSpPr>
        <p:spPr>
          <a:xfrm>
            <a:off x="839151" y="1676400"/>
            <a:ext cx="10513695" cy="1875513"/>
          </a:xfrm>
          <a:prstGeom prst="rect">
            <a:avLst/>
          </a:prstGeom>
        </p:spPr>
        <p:txBody>
          <a:bodyPr vert="horz" wrap="square" lIns="0" tIns="59055" rIns="0" bIns="0" rtlCol="0">
            <a:spAutoFit/>
          </a:bodyPr>
          <a:lstStyle/>
          <a:p>
            <a:pPr marL="302260" marR="141605" lvl="1" indent="-229235">
              <a:lnSpc>
                <a:spcPct val="85100"/>
              </a:lnSpc>
              <a:spcBef>
                <a:spcPts val="2030"/>
              </a:spcBef>
              <a:buClr>
                <a:srgbClr val="000000"/>
              </a:buClr>
              <a:buFont typeface="Arial MT"/>
              <a:buChar char="•"/>
              <a:tabLst>
                <a:tab pos="302260" algn="l"/>
              </a:tabLst>
            </a:pPr>
            <a:r>
              <a:rPr lang="en-US" sz="2000" dirty="0">
                <a:solidFill>
                  <a:srgbClr val="252525"/>
                </a:solidFill>
                <a:latin typeface="Times New Roman"/>
                <a:cs typeface="Times New Roman"/>
              </a:rPr>
              <a:t>The Android bootloader initializes hardware components such as display, memory, and storage.</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It verifies the integrity of the Android kernel and system images.</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Boot modes such as recovery and </a:t>
            </a:r>
            <a:r>
              <a:rPr lang="en-US" sz="2000" dirty="0" err="1">
                <a:solidFill>
                  <a:srgbClr val="252525"/>
                </a:solidFill>
                <a:latin typeface="Times New Roman"/>
                <a:cs typeface="Times New Roman"/>
              </a:rPr>
              <a:t>fastboot</a:t>
            </a:r>
            <a:r>
              <a:rPr lang="en-US" sz="2000" dirty="0">
                <a:solidFill>
                  <a:srgbClr val="252525"/>
                </a:solidFill>
                <a:latin typeface="Times New Roman"/>
                <a:cs typeface="Times New Roman"/>
              </a:rPr>
              <a:t> are supported at this stage.</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After verification, the bootloader loads the Linux kernel into memory.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19400" y="228600"/>
            <a:ext cx="8095738" cy="689932"/>
          </a:xfrm>
          <a:prstGeom prst="rect">
            <a:avLst/>
          </a:prstGeom>
        </p:spPr>
        <p:txBody>
          <a:bodyPr vert="horz" wrap="square" lIns="0" tIns="12700" rIns="0" bIns="0" rtlCol="0">
            <a:spAutoFit/>
          </a:bodyPr>
          <a:lstStyle/>
          <a:p>
            <a:pPr marL="12700">
              <a:lnSpc>
                <a:spcPct val="100000"/>
              </a:lnSpc>
              <a:spcBef>
                <a:spcPts val="100"/>
              </a:spcBef>
              <a:tabLst>
                <a:tab pos="1877695" algn="l"/>
              </a:tabLst>
            </a:pPr>
            <a:r>
              <a:rPr lang="en-IN" sz="4400" b="1" spc="-10" dirty="0">
                <a:solidFill>
                  <a:srgbClr val="548BB7"/>
                </a:solidFill>
                <a:latin typeface="Times New Roman"/>
                <a:cs typeface="Times New Roman"/>
              </a:rPr>
              <a:t>Kernel Initialization </a:t>
            </a:r>
            <a:endParaRPr sz="4400" dirty="0">
              <a:latin typeface="Times New Roman"/>
              <a:cs typeface="Times New Roman"/>
            </a:endParaRPr>
          </a:p>
        </p:txBody>
      </p:sp>
      <p:sp>
        <p:nvSpPr>
          <p:cNvPr id="3" name="object 3"/>
          <p:cNvSpPr txBox="1"/>
          <p:nvPr/>
        </p:nvSpPr>
        <p:spPr>
          <a:xfrm>
            <a:off x="914400" y="1676400"/>
            <a:ext cx="9653180" cy="1572225"/>
          </a:xfrm>
          <a:prstGeom prst="rect">
            <a:avLst/>
          </a:prstGeom>
        </p:spPr>
        <p:txBody>
          <a:bodyPr vert="horz" wrap="square" lIns="0" tIns="12700" rIns="0" bIns="0" rtlCol="0">
            <a:spAutoFit/>
          </a:bodyPr>
          <a:lstStyle/>
          <a:p>
            <a:pPr marL="302260" marR="141605" lvl="1" indent="-229235">
              <a:lnSpc>
                <a:spcPct val="85100"/>
              </a:lnSpc>
              <a:spcBef>
                <a:spcPts val="2030"/>
              </a:spcBef>
              <a:buClr>
                <a:srgbClr val="000000"/>
              </a:buClr>
              <a:buFont typeface="Arial MT"/>
              <a:buChar char="•"/>
              <a:tabLst>
                <a:tab pos="302260" algn="l"/>
              </a:tabLst>
            </a:pPr>
            <a:r>
              <a:rPr lang="en-US" sz="2000" dirty="0">
                <a:solidFill>
                  <a:srgbClr val="252525"/>
                </a:solidFill>
                <a:latin typeface="Times New Roman"/>
                <a:cs typeface="Times New Roman"/>
              </a:rPr>
              <a:t>Android uses the Linux kernel as its core operating system kernel, which is why Linux kernel initialization is part of Android’s boot process.</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Android-specific system partitions are mounted for system operation.</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The kernel starts the </a:t>
            </a:r>
            <a:r>
              <a:rPr lang="en-US" sz="2000" dirty="0" err="1">
                <a:solidFill>
                  <a:srgbClr val="252525"/>
                </a:solidFill>
                <a:latin typeface="Times New Roman"/>
                <a:cs typeface="Times New Roman"/>
              </a:rPr>
              <a:t>init</a:t>
            </a:r>
            <a:r>
              <a:rPr lang="en-US" sz="2000" dirty="0">
                <a:solidFill>
                  <a:srgbClr val="252525"/>
                </a:solidFill>
                <a:latin typeface="Times New Roman"/>
                <a:cs typeface="Times New Roman"/>
              </a:rPr>
              <a:t> process, which manages system services.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60672" y="-42698"/>
            <a:ext cx="9070655" cy="843369"/>
          </a:xfrm>
          <a:prstGeom prst="rect">
            <a:avLst/>
          </a:prstGeom>
        </p:spPr>
        <p:txBody>
          <a:bodyPr vert="horz" wrap="square" lIns="0" tIns="164653" rIns="0" bIns="0" rtlCol="0">
            <a:spAutoFit/>
          </a:bodyPr>
          <a:lstStyle/>
          <a:p>
            <a:pPr marL="12700">
              <a:spcBef>
                <a:spcPts val="100"/>
              </a:spcBef>
              <a:tabLst>
                <a:tab pos="1877695" algn="l"/>
              </a:tabLst>
            </a:pPr>
            <a:r>
              <a:rPr lang="en-IN" sz="4400" spc="-10" dirty="0">
                <a:solidFill>
                  <a:srgbClr val="548BB7"/>
                </a:solidFill>
                <a:latin typeface="Times New Roman"/>
                <a:cs typeface="Times New Roman"/>
              </a:rPr>
              <a:t>		</a:t>
            </a:r>
            <a:r>
              <a:rPr sz="4400" spc="-10" dirty="0">
                <a:solidFill>
                  <a:srgbClr val="548BB7"/>
                </a:solidFill>
                <a:latin typeface="Times New Roman"/>
                <a:cs typeface="Times New Roman"/>
              </a:rPr>
              <a:t>Conclusion</a:t>
            </a:r>
          </a:p>
        </p:txBody>
      </p:sp>
      <p:sp>
        <p:nvSpPr>
          <p:cNvPr id="3" name="object 3"/>
          <p:cNvSpPr txBox="1"/>
          <p:nvPr/>
        </p:nvSpPr>
        <p:spPr>
          <a:xfrm>
            <a:off x="841120" y="1613825"/>
            <a:ext cx="10665079" cy="1059264"/>
          </a:xfrm>
          <a:prstGeom prst="rect">
            <a:avLst/>
          </a:prstGeom>
        </p:spPr>
        <p:txBody>
          <a:bodyPr vert="horz" wrap="square" lIns="0" tIns="12700" rIns="0" bIns="0" rtlCol="0">
            <a:spAutoFit/>
          </a:bodyPr>
          <a:lstStyle/>
          <a:p>
            <a:pPr marL="73025" marR="141605" lvl="1">
              <a:lnSpc>
                <a:spcPct val="85100"/>
              </a:lnSpc>
              <a:spcBef>
                <a:spcPts val="2030"/>
              </a:spcBef>
              <a:buClr>
                <a:srgbClr val="000000"/>
              </a:buClr>
              <a:buSzPct val="50000"/>
              <a:tabLst>
                <a:tab pos="302260" algn="l"/>
              </a:tabLst>
            </a:pPr>
            <a:r>
              <a:rPr lang="en-US" sz="2000" dirty="0">
                <a:solidFill>
                  <a:srgbClr val="252525"/>
                </a:solidFill>
                <a:latin typeface="Times New Roman"/>
                <a:cs typeface="Times New Roman"/>
              </a:rPr>
              <a:t>The Android booting process follows a secure and verified sequence designed to protect mobile devices from unauthorized system modifications. Features such as Verified Boot ensure that only trusted software components are executed. This secure startup mechanism helps maintain system integrity and prevents malicious code from loading during boot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614</TotalTime>
  <Words>232</Words>
  <Application>Microsoft Office PowerPoint</Application>
  <PresentationFormat>Widescreen</PresentationFormat>
  <Paragraphs>24</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 MT</vt:lpstr>
      <vt:lpstr>Calibri</vt:lpstr>
      <vt:lpstr>Cambria</vt:lpstr>
      <vt:lpstr>Times New Roman</vt:lpstr>
      <vt:lpstr>Office Theme</vt:lpstr>
      <vt:lpstr>PowerPoint Presentation</vt:lpstr>
      <vt:lpstr>Boot ROM and Power Initialization </vt:lpstr>
      <vt:lpstr>Bootloader</vt:lpstr>
      <vt:lpstr>PowerPoint Presentation</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 Template - Phase II.pptx</dc:title>
  <dc:creator>Rakshith</dc:creator>
  <cp:lastModifiedBy>Rakshit Ab</cp:lastModifiedBy>
  <cp:revision>38</cp:revision>
  <dcterms:created xsi:type="dcterms:W3CDTF">2025-10-22T14:46:34Z</dcterms:created>
  <dcterms:modified xsi:type="dcterms:W3CDTF">2026-02-12T09:16:27Z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2025-10-22T00:00:00Z</vt:filetime>
  </property>
  <property fmtid="{D5CDD505-2E9C-101B-9397-08002B2CF9AE}" pid="3" name="Creator">
    <vt:lpwstr>Google</vt:lpwstr>
  </property>
  <property fmtid="{D5CDD505-2E9C-101B-9397-08002B2CF9AE}" pid="4" name="LastSaved">
    <vt:filetime>2025-10-22T00:00:00Z</vt:filetime>
  </property>
</Properties>
</file>