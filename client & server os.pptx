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0" r:id="rId5"/>
    <p:sldId id="283" r:id="rId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902" autoAdjust="0"/>
  </p:normalViewPr>
  <p:slideViewPr>
    <p:cSldViewPr>
      <p:cViewPr varScale="1">
        <p:scale>
          <a:sx n="84" d="100"/>
          <a:sy n="84" d="100"/>
        </p:scale>
        <p:origin x="629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60672" y="-42698"/>
            <a:ext cx="9070655" cy="8978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729615">
              <a:lnSpc>
                <a:spcPct val="100000"/>
              </a:lnSpc>
              <a:spcBef>
                <a:spcPts val="45"/>
              </a:spcBef>
            </a:pPr>
            <a:r>
              <a:rPr spc="70" dirty="0"/>
              <a:t>DEPARTMENT</a:t>
            </a:r>
            <a:r>
              <a:rPr spc="114" dirty="0"/>
              <a:t> </a:t>
            </a:r>
            <a:r>
              <a:rPr spc="100" dirty="0"/>
              <a:t>OF</a:t>
            </a:r>
            <a:r>
              <a:rPr spc="120" dirty="0"/>
              <a:t> </a:t>
            </a:r>
            <a:r>
              <a:rPr spc="65" dirty="0"/>
              <a:t>INFORMATION</a:t>
            </a:r>
            <a:r>
              <a:rPr spc="114" dirty="0"/>
              <a:t> </a:t>
            </a:r>
            <a:r>
              <a:rPr spc="110" dirty="0"/>
              <a:t>SCIENCE</a:t>
            </a:r>
            <a:r>
              <a:rPr spc="120" dirty="0"/>
              <a:t> </a:t>
            </a:r>
            <a:r>
              <a:rPr spc="55" dirty="0"/>
              <a:t>&amp;</a:t>
            </a:r>
            <a:r>
              <a:rPr spc="120" dirty="0"/>
              <a:t> </a:t>
            </a:r>
            <a:r>
              <a:rPr spc="70" dirty="0"/>
              <a:t>ENGINEERING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50" dirty="0"/>
              <a:t>10/16/2025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729615">
              <a:lnSpc>
                <a:spcPct val="100000"/>
              </a:lnSpc>
              <a:spcBef>
                <a:spcPts val="45"/>
              </a:spcBef>
            </a:pPr>
            <a:r>
              <a:rPr spc="70" dirty="0"/>
              <a:t>DEPARTMENT</a:t>
            </a:r>
            <a:r>
              <a:rPr spc="114" dirty="0"/>
              <a:t> </a:t>
            </a:r>
            <a:r>
              <a:rPr spc="100" dirty="0"/>
              <a:t>OF</a:t>
            </a:r>
            <a:r>
              <a:rPr spc="120" dirty="0"/>
              <a:t> </a:t>
            </a:r>
            <a:r>
              <a:rPr spc="65" dirty="0"/>
              <a:t>INFORMATION</a:t>
            </a:r>
            <a:r>
              <a:rPr spc="114" dirty="0"/>
              <a:t> </a:t>
            </a:r>
            <a:r>
              <a:rPr spc="110" dirty="0"/>
              <a:t>SCIENCE</a:t>
            </a:r>
            <a:r>
              <a:rPr spc="120" dirty="0"/>
              <a:t> </a:t>
            </a:r>
            <a:r>
              <a:rPr spc="55" dirty="0"/>
              <a:t>&amp;</a:t>
            </a:r>
            <a:r>
              <a:rPr spc="120" dirty="0"/>
              <a:t> </a:t>
            </a:r>
            <a:r>
              <a:rPr spc="70" dirty="0"/>
              <a:t>ENGINEERING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50" dirty="0"/>
              <a:t>10/16/2025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729615">
              <a:lnSpc>
                <a:spcPct val="100000"/>
              </a:lnSpc>
              <a:spcBef>
                <a:spcPts val="45"/>
              </a:spcBef>
            </a:pPr>
            <a:r>
              <a:rPr spc="70" dirty="0"/>
              <a:t>DEPARTMENT</a:t>
            </a:r>
            <a:r>
              <a:rPr spc="114" dirty="0"/>
              <a:t> </a:t>
            </a:r>
            <a:r>
              <a:rPr spc="100" dirty="0"/>
              <a:t>OF</a:t>
            </a:r>
            <a:r>
              <a:rPr spc="120" dirty="0"/>
              <a:t> </a:t>
            </a:r>
            <a:r>
              <a:rPr spc="65" dirty="0"/>
              <a:t>INFORMATION</a:t>
            </a:r>
            <a:r>
              <a:rPr spc="114" dirty="0"/>
              <a:t> </a:t>
            </a:r>
            <a:r>
              <a:rPr spc="110" dirty="0"/>
              <a:t>SCIENCE</a:t>
            </a:r>
            <a:r>
              <a:rPr spc="120" dirty="0"/>
              <a:t> </a:t>
            </a:r>
            <a:r>
              <a:rPr spc="55" dirty="0"/>
              <a:t>&amp;</a:t>
            </a:r>
            <a:r>
              <a:rPr spc="120" dirty="0"/>
              <a:t> </a:t>
            </a:r>
            <a:r>
              <a:rPr spc="70" dirty="0"/>
              <a:t>ENGINEERING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50" dirty="0"/>
              <a:t>10/16/2025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729615">
              <a:lnSpc>
                <a:spcPct val="100000"/>
              </a:lnSpc>
              <a:spcBef>
                <a:spcPts val="45"/>
              </a:spcBef>
            </a:pPr>
            <a:r>
              <a:rPr spc="70" dirty="0"/>
              <a:t>DEPARTMENT</a:t>
            </a:r>
            <a:r>
              <a:rPr spc="114" dirty="0"/>
              <a:t> </a:t>
            </a:r>
            <a:r>
              <a:rPr spc="100" dirty="0"/>
              <a:t>OF</a:t>
            </a:r>
            <a:r>
              <a:rPr spc="120" dirty="0"/>
              <a:t> </a:t>
            </a:r>
            <a:r>
              <a:rPr spc="65" dirty="0"/>
              <a:t>INFORMATION</a:t>
            </a:r>
            <a:r>
              <a:rPr spc="114" dirty="0"/>
              <a:t> </a:t>
            </a:r>
            <a:r>
              <a:rPr spc="110" dirty="0"/>
              <a:t>SCIENCE</a:t>
            </a:r>
            <a:r>
              <a:rPr spc="120" dirty="0"/>
              <a:t> </a:t>
            </a:r>
            <a:r>
              <a:rPr spc="55" dirty="0"/>
              <a:t>&amp;</a:t>
            </a:r>
            <a:r>
              <a:rPr spc="120" dirty="0"/>
              <a:t> </a:t>
            </a:r>
            <a:r>
              <a:rPr spc="70" dirty="0"/>
              <a:t>ENGINEERING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50" dirty="0"/>
              <a:t>10/16/2025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729615">
              <a:lnSpc>
                <a:spcPct val="100000"/>
              </a:lnSpc>
              <a:spcBef>
                <a:spcPts val="45"/>
              </a:spcBef>
            </a:pPr>
            <a:r>
              <a:rPr spc="70" dirty="0"/>
              <a:t>DEPARTMENT</a:t>
            </a:r>
            <a:r>
              <a:rPr spc="114" dirty="0"/>
              <a:t> </a:t>
            </a:r>
            <a:r>
              <a:rPr spc="100" dirty="0"/>
              <a:t>OF</a:t>
            </a:r>
            <a:r>
              <a:rPr spc="120" dirty="0"/>
              <a:t> </a:t>
            </a:r>
            <a:r>
              <a:rPr spc="65" dirty="0"/>
              <a:t>INFORMATION</a:t>
            </a:r>
            <a:r>
              <a:rPr spc="114" dirty="0"/>
              <a:t> </a:t>
            </a:r>
            <a:r>
              <a:rPr spc="110" dirty="0"/>
              <a:t>SCIENCE</a:t>
            </a:r>
            <a:r>
              <a:rPr spc="120" dirty="0"/>
              <a:t> </a:t>
            </a:r>
            <a:r>
              <a:rPr spc="55" dirty="0"/>
              <a:t>&amp;</a:t>
            </a:r>
            <a:r>
              <a:rPr spc="120" dirty="0"/>
              <a:t> </a:t>
            </a:r>
            <a:r>
              <a:rPr spc="70" dirty="0"/>
              <a:t>ENGINEERING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50" dirty="0"/>
              <a:t>10/16/2025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0755" y="2631261"/>
            <a:ext cx="8910320" cy="15271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50368" y="6443841"/>
            <a:ext cx="4584221" cy="2702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729615">
              <a:lnSpc>
                <a:spcPct val="100000"/>
              </a:lnSpc>
              <a:spcBef>
                <a:spcPts val="45"/>
              </a:spcBef>
            </a:pPr>
            <a:r>
              <a:rPr spc="70" dirty="0"/>
              <a:t>DEPARTMENT</a:t>
            </a:r>
            <a:r>
              <a:rPr spc="114" dirty="0"/>
              <a:t> </a:t>
            </a:r>
            <a:r>
              <a:rPr spc="100" dirty="0"/>
              <a:t>OF</a:t>
            </a:r>
            <a:r>
              <a:rPr spc="120" dirty="0"/>
              <a:t> </a:t>
            </a:r>
            <a:r>
              <a:rPr spc="65" dirty="0"/>
              <a:t>INFORMATION</a:t>
            </a:r>
            <a:r>
              <a:rPr spc="114" dirty="0"/>
              <a:t> </a:t>
            </a:r>
            <a:r>
              <a:rPr spc="110" dirty="0"/>
              <a:t>SCIENCE</a:t>
            </a:r>
            <a:r>
              <a:rPr spc="120" dirty="0"/>
              <a:t> </a:t>
            </a:r>
            <a:r>
              <a:rPr spc="55" dirty="0"/>
              <a:t>&amp;</a:t>
            </a:r>
            <a:r>
              <a:rPr spc="120" dirty="0"/>
              <a:t> </a:t>
            </a:r>
            <a:r>
              <a:rPr spc="70" dirty="0"/>
              <a:t>ENGINEERING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32254" y="6443841"/>
            <a:ext cx="1134291" cy="2702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50" dirty="0"/>
              <a:t>10/16/2025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87001"/>
            <a:ext cx="12192000" cy="2786971"/>
          </a:xfrm>
          <a:custGeom>
            <a:avLst/>
            <a:gdLst/>
            <a:ahLst/>
            <a:cxnLst/>
            <a:rect l="l" t="t" r="r" b="b"/>
            <a:pathLst>
              <a:path w="12192000" h="2533650">
                <a:moveTo>
                  <a:pt x="12191999" y="2533612"/>
                </a:moveTo>
                <a:lnTo>
                  <a:pt x="0" y="2533612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2533612"/>
                </a:lnTo>
                <a:close/>
              </a:path>
            </a:pathLst>
          </a:custGeom>
          <a:solidFill>
            <a:srgbClr val="345D7E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239000" y="4051367"/>
            <a:ext cx="4494224" cy="1804404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44"/>
              </a:spcBef>
            </a:pPr>
            <a:r>
              <a:rPr sz="18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Presented</a:t>
            </a:r>
            <a:r>
              <a:rPr sz="1800" b="1" spc="-6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b="1" spc="-25" dirty="0">
                <a:solidFill>
                  <a:srgbClr val="0C0C0C"/>
                </a:solidFill>
                <a:latin typeface="Times New Roman"/>
                <a:cs typeface="Times New Roman"/>
              </a:rPr>
              <a:t>By:</a:t>
            </a:r>
            <a:endParaRPr lang="en-IN" b="1" spc="-25" dirty="0">
              <a:solidFill>
                <a:srgbClr val="0C0C0C"/>
              </a:solidFill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944"/>
              </a:spcBef>
            </a:pPr>
            <a:endParaRPr lang="en-IN" b="1" spc="-25" dirty="0">
              <a:solidFill>
                <a:srgbClr val="0C0C0C"/>
              </a:solidFill>
              <a:latin typeface="Times New Roman"/>
              <a:cs typeface="Times New Roman"/>
            </a:endParaRPr>
          </a:p>
          <a:p>
            <a:pPr marL="12700" marR="673735">
              <a:lnSpc>
                <a:spcPct val="115599"/>
              </a:lnSpc>
              <a:spcBef>
                <a:spcPts val="100"/>
              </a:spcBef>
            </a:pPr>
            <a:r>
              <a:rPr lang="en-IN" b="1" dirty="0">
                <a:latin typeface="Times New Roman"/>
                <a:cs typeface="Times New Roman"/>
              </a:rPr>
              <a:t>Rakshith AB</a:t>
            </a: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lang="en-US"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member</a:t>
            </a:r>
            <a:r>
              <a:rPr lang="en-US" sz="2000" b="1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name3</a:t>
            </a:r>
            <a:r>
              <a:rPr lang="en-US" sz="20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–</a:t>
            </a:r>
            <a:r>
              <a:rPr lang="en-US" sz="20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0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USN </a:t>
            </a:r>
            <a:r>
              <a:rPr lang="en-US"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Group</a:t>
            </a:r>
            <a:r>
              <a:rPr lang="en-US" sz="20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member</a:t>
            </a:r>
            <a:r>
              <a:rPr lang="en-US" sz="2000" b="1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name4</a:t>
            </a:r>
            <a:r>
              <a:rPr lang="en-US" sz="20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lang="en-US" sz="20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0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USN</a:t>
            </a:r>
            <a:endParaRPr lang="en-US" sz="20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73426" y="280299"/>
            <a:ext cx="10505167" cy="2314736"/>
          </a:xfrm>
          <a:prstGeom prst="rect">
            <a:avLst/>
          </a:prstGeom>
        </p:spPr>
        <p:txBody>
          <a:bodyPr vert="horz" wrap="square" lIns="0" tIns="2197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905"/>
              </a:spcBef>
              <a:tabLst>
                <a:tab pos="3904615" algn="l"/>
              </a:tabLst>
            </a:pPr>
            <a:endParaRPr lang="en-IN" sz="28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endParaRPr lang="en-US" sz="3600" b="1" dirty="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endParaRPr lang="en-US" sz="3600" b="1" dirty="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lang="en-IN" sz="3600" b="1" dirty="0">
                <a:solidFill>
                  <a:srgbClr val="FFFFFF"/>
                </a:solidFill>
                <a:latin typeface="Times New Roman"/>
                <a:cs typeface="Times New Roman"/>
              </a:rPr>
              <a:t>CLIENT &amp; SERVER OS</a:t>
            </a:r>
            <a:endParaRPr lang="en-US" sz="3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999399" y="304800"/>
            <a:ext cx="9070655" cy="735634"/>
          </a:xfrm>
          <a:prstGeom prst="rect">
            <a:avLst/>
          </a:prstGeom>
        </p:spPr>
        <p:txBody>
          <a:bodyPr vert="horz" wrap="square" lIns="0" tIns="179880" rIns="0" bIns="0" rtlCol="0">
            <a:spAutoFit/>
          </a:bodyPr>
          <a:lstStyle/>
          <a:p>
            <a:pPr marL="1676400">
              <a:lnSpc>
                <a:spcPct val="100000"/>
              </a:lnSpc>
              <a:spcBef>
                <a:spcPts val="100"/>
              </a:spcBef>
            </a:pPr>
            <a:r>
              <a:rPr lang="en-IN" sz="3600" dirty="0">
                <a:solidFill>
                  <a:srgbClr val="548BB7"/>
                </a:solidFill>
                <a:latin typeface="Times New Roman"/>
                <a:cs typeface="Times New Roman"/>
              </a:rPr>
              <a:t>			Overview </a:t>
            </a:r>
            <a:endParaRPr lang="en-IN" sz="36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9399" y="1219200"/>
            <a:ext cx="10147935" cy="49372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2000" b="1" dirty="0">
                <a:solidFill>
                  <a:srgbClr val="252525"/>
                </a:solidFill>
                <a:latin typeface="Times New Roman"/>
                <a:cs typeface="Times New Roman"/>
              </a:rPr>
              <a:t>Client Operating System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A Client OS is designed for end users to perform daily tasks such as browsing, document editing, and application usage.</a:t>
            </a:r>
          </a:p>
          <a:p>
            <a:pPr marL="241300" indent="-229235">
              <a:buChar char="•"/>
            </a:pPr>
            <a:endParaRPr lang="en-US" sz="2000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241300" indent="-229235">
              <a:buChar char="•"/>
            </a:pPr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It supports a single user or limited users and focuses on user interface and ease of use	.</a:t>
            </a:r>
          </a:p>
          <a:p>
            <a:pPr marL="241300" indent="-229235">
              <a:buChar char="•"/>
            </a:pPr>
            <a:endParaRPr lang="en-US" sz="2000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241300" indent="-229235">
              <a:buChar char="•"/>
            </a:pPr>
            <a:r>
              <a:rPr lang="en-IN" sz="2000" dirty="0">
                <a:solidFill>
                  <a:srgbClr val="252525"/>
                </a:solidFill>
                <a:latin typeface="Times New Roman"/>
                <a:cs typeface="Times New Roman"/>
              </a:rPr>
              <a:t>Examples include Windows Desktop editions, Ubuntu Desktop, and Red Hat Enterprise Linux Workstation.</a:t>
            </a:r>
          </a:p>
          <a:p>
            <a:pPr marL="241300" indent="-229235">
              <a:buChar char="•"/>
            </a:pPr>
            <a:endParaRPr lang="en-IN" sz="2000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12065"/>
            <a:r>
              <a:rPr lang="en-US" sz="2000" b="1" dirty="0">
                <a:solidFill>
                  <a:srgbClr val="252525"/>
                </a:solidFill>
                <a:latin typeface="Times New Roman"/>
                <a:cs typeface="Times New Roman"/>
              </a:rPr>
              <a:t>Server Operating System</a:t>
            </a:r>
          </a:p>
          <a:p>
            <a:pPr marL="241300" indent="-229235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A Server OS is designed to manage network resources and provide services to multiple users or client systems.</a:t>
            </a:r>
          </a:p>
          <a:p>
            <a:pPr marL="241300" indent="-229235">
              <a:buChar char="•"/>
            </a:pPr>
            <a:endParaRPr lang="en-US" sz="2000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241300" indent="-229235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It focuses on stability, security, performance, and uptime rather than user interface.</a:t>
            </a:r>
          </a:p>
          <a:p>
            <a:pPr marL="241300" indent="-229235">
              <a:buChar char="•"/>
            </a:pPr>
            <a:endParaRPr lang="en-US" sz="2000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113665" indent="-229235">
              <a:buChar char="•"/>
            </a:pPr>
            <a:endParaRPr lang="en-US" sz="2000" dirty="0">
              <a:solidFill>
                <a:srgbClr val="252525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533400" y="36576"/>
            <a:ext cx="9070655" cy="870583"/>
          </a:xfrm>
          <a:prstGeom prst="rect">
            <a:avLst/>
          </a:prstGeom>
        </p:spPr>
        <p:txBody>
          <a:bodyPr vert="horz" wrap="square" lIns="0" tIns="191603" rIns="0" bIns="0" rtlCol="0">
            <a:spAutoFit/>
          </a:bodyPr>
          <a:lstStyle/>
          <a:p>
            <a:pPr marL="3192145">
              <a:lnSpc>
                <a:spcPct val="100000"/>
              </a:lnSpc>
              <a:spcBef>
                <a:spcPts val="100"/>
              </a:spcBef>
            </a:pPr>
            <a:r>
              <a:rPr lang="en-IN" sz="4400" spc="-10" dirty="0">
                <a:solidFill>
                  <a:srgbClr val="548BB7"/>
                </a:solidFill>
                <a:latin typeface="Times New Roman"/>
                <a:cs typeface="Times New Roman"/>
              </a:rPr>
              <a:t>Linux Client OS version</a:t>
            </a:r>
            <a:endParaRPr lang="en-IN" sz="4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9151" y="1676400"/>
            <a:ext cx="10513695" cy="2403863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241300" marR="141605" lvl="1" indent="-229235">
              <a:lnSpc>
                <a:spcPct val="85100"/>
              </a:lnSpc>
              <a:spcBef>
                <a:spcPts val="2030"/>
              </a:spcBef>
              <a:buClr>
                <a:srgbClr val="000000"/>
              </a:buClr>
              <a:buFont typeface="Arial MT"/>
              <a:buChar char="•"/>
              <a:tabLst>
                <a:tab pos="302260" algn="l"/>
              </a:tabLst>
            </a:pPr>
            <a:r>
              <a:rPr lang="en-US" sz="2000" b="1" dirty="0">
                <a:solidFill>
                  <a:srgbClr val="252525"/>
                </a:solidFill>
                <a:latin typeface="Times New Roman"/>
                <a:cs typeface="Times New Roman"/>
              </a:rPr>
              <a:t>Red Hat Enterprise Linux Workstation</a:t>
            </a:r>
            <a:b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</a:br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Designed for desktop users such as developers and engineers, providing a graphical environment with enterprise-level stability.</a:t>
            </a:r>
          </a:p>
          <a:p>
            <a:pPr marL="241300" marR="141605" lvl="1" indent="-229235">
              <a:lnSpc>
                <a:spcPct val="85100"/>
              </a:lnSpc>
              <a:spcBef>
                <a:spcPts val="2030"/>
              </a:spcBef>
              <a:buClr>
                <a:srgbClr val="000000"/>
              </a:buClr>
              <a:buFont typeface="Arial MT"/>
              <a:buChar char="•"/>
              <a:tabLst>
                <a:tab pos="302260" algn="l"/>
              </a:tabLst>
            </a:pPr>
            <a:r>
              <a:rPr lang="en-US" sz="2000" b="1" dirty="0">
                <a:solidFill>
                  <a:srgbClr val="252525"/>
                </a:solidFill>
                <a:latin typeface="Times New Roman"/>
                <a:cs typeface="Times New Roman"/>
              </a:rPr>
              <a:t>Fedora Workstation</a:t>
            </a:r>
            <a:b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</a:br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A community-supported, Red Hat–sponsored desktop Linux used for development and testing.</a:t>
            </a:r>
          </a:p>
          <a:p>
            <a:pPr marL="241300" marR="141605" lvl="1" indent="-229235">
              <a:lnSpc>
                <a:spcPct val="85100"/>
              </a:lnSpc>
              <a:spcBef>
                <a:spcPts val="2030"/>
              </a:spcBef>
              <a:buClr>
                <a:srgbClr val="000000"/>
              </a:buClr>
              <a:buFont typeface="Arial MT"/>
              <a:buChar char="•"/>
              <a:tabLst>
                <a:tab pos="302260" algn="l"/>
              </a:tabLst>
            </a:pPr>
            <a:r>
              <a:rPr lang="en-US" sz="2000" b="1" dirty="0">
                <a:solidFill>
                  <a:srgbClr val="252525"/>
                </a:solidFill>
                <a:latin typeface="Times New Roman"/>
                <a:cs typeface="Times New Roman"/>
              </a:rPr>
              <a:t>CentOS Stream (Desktop Use)</a:t>
            </a:r>
            <a:br>
              <a:rPr lang="en-US" sz="2000" b="1" dirty="0">
                <a:solidFill>
                  <a:srgbClr val="252525"/>
                </a:solidFill>
                <a:latin typeface="Times New Roman"/>
                <a:cs typeface="Times New Roman"/>
              </a:rPr>
            </a:br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Often used as a client OS in enterprise environments for testing and development purposes.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93818" y="0"/>
            <a:ext cx="649732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77695" algn="l"/>
              </a:tabLst>
            </a:pPr>
            <a:r>
              <a:rPr lang="en-IN" sz="4400" b="1" spc="-10" dirty="0">
                <a:solidFill>
                  <a:srgbClr val="548BB7"/>
                </a:solidFill>
                <a:latin typeface="Times New Roman"/>
                <a:cs typeface="Times New Roman"/>
              </a:rPr>
              <a:t>Linux Server OS version</a:t>
            </a:r>
            <a:endParaRPr sz="4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4400" y="1676400"/>
            <a:ext cx="9653180" cy="28751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2260" marR="141605" lvl="1" indent="-229235">
              <a:lnSpc>
                <a:spcPct val="85100"/>
              </a:lnSpc>
              <a:spcBef>
                <a:spcPts val="2030"/>
              </a:spcBef>
              <a:buClr>
                <a:srgbClr val="000000"/>
              </a:buClr>
              <a:buFont typeface="Arial MT"/>
              <a:buChar char="•"/>
              <a:tabLst>
                <a:tab pos="302260" algn="l"/>
              </a:tabLst>
            </a:pPr>
            <a:r>
              <a:rPr lang="en-IN" sz="2000" b="1" dirty="0">
                <a:solidFill>
                  <a:srgbClr val="252525"/>
                </a:solidFill>
                <a:latin typeface="Times New Roman"/>
                <a:cs typeface="Times New Roman"/>
              </a:rPr>
              <a:t>Red Hat Enterprise Linux (RHEL) Server</a:t>
            </a:r>
            <a:br>
              <a:rPr lang="en-IN" sz="2000" dirty="0">
                <a:solidFill>
                  <a:srgbClr val="252525"/>
                </a:solidFill>
                <a:latin typeface="Times New Roman"/>
                <a:cs typeface="Times New Roman"/>
              </a:rPr>
            </a:br>
            <a:r>
              <a:rPr lang="en-IN" sz="2000" dirty="0">
                <a:solidFill>
                  <a:srgbClr val="252525"/>
                </a:solidFill>
                <a:latin typeface="Times New Roman"/>
                <a:cs typeface="Times New Roman"/>
              </a:rPr>
              <a:t>Enterprise-grade Linux OS widely used for servers, cloud, and data </a:t>
            </a:r>
            <a:r>
              <a:rPr lang="en-IN" sz="2000" dirty="0" err="1">
                <a:solidFill>
                  <a:srgbClr val="252525"/>
                </a:solidFill>
                <a:latin typeface="Times New Roman"/>
                <a:cs typeface="Times New Roman"/>
              </a:rPr>
              <a:t>centers</a:t>
            </a:r>
            <a:r>
              <a:rPr lang="en-IN" sz="2000" dirty="0">
                <a:solidFill>
                  <a:srgbClr val="252525"/>
                </a:solidFill>
                <a:latin typeface="Times New Roman"/>
                <a:cs typeface="Times New Roman"/>
              </a:rPr>
              <a:t>.</a:t>
            </a:r>
          </a:p>
          <a:p>
            <a:pPr marL="302260" marR="141605" lvl="1" indent="-229235">
              <a:lnSpc>
                <a:spcPct val="85100"/>
              </a:lnSpc>
              <a:spcBef>
                <a:spcPts val="2030"/>
              </a:spcBef>
              <a:buClr>
                <a:srgbClr val="000000"/>
              </a:buClr>
              <a:buFont typeface="Arial MT"/>
              <a:buChar char="•"/>
              <a:tabLst>
                <a:tab pos="302260" algn="l"/>
              </a:tabLst>
            </a:pPr>
            <a:r>
              <a:rPr lang="en-US" sz="2000" b="1" dirty="0">
                <a:solidFill>
                  <a:srgbClr val="252525"/>
                </a:solidFill>
                <a:latin typeface="Times New Roman"/>
                <a:cs typeface="Times New Roman"/>
              </a:rPr>
              <a:t>CentOS Stream</a:t>
            </a:r>
            <a:b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</a:br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Used as a rolling-release server OS closely aligned with RHEL development.</a:t>
            </a:r>
          </a:p>
          <a:p>
            <a:pPr marL="302260" marR="141605" lvl="1" indent="-229235">
              <a:lnSpc>
                <a:spcPct val="85100"/>
              </a:lnSpc>
              <a:spcBef>
                <a:spcPts val="2030"/>
              </a:spcBef>
              <a:buClr>
                <a:srgbClr val="000000"/>
              </a:buClr>
              <a:buChar char="•"/>
              <a:tabLst>
                <a:tab pos="302260" algn="l"/>
              </a:tabLst>
            </a:pPr>
            <a:r>
              <a:rPr lang="en-US" sz="2000" b="1" dirty="0">
                <a:solidFill>
                  <a:srgbClr val="252525"/>
                </a:solidFill>
                <a:latin typeface="Times New Roman"/>
                <a:cs typeface="Times New Roman"/>
              </a:rPr>
              <a:t>Rocky Linux</a:t>
            </a:r>
            <a:b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</a:br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A community-driven, RHEL-compatible server OS designed for enterprise use.</a:t>
            </a:r>
          </a:p>
          <a:p>
            <a:pPr marL="302260" marR="141605" lvl="1" indent="-229235">
              <a:lnSpc>
                <a:spcPct val="85100"/>
              </a:lnSpc>
              <a:spcBef>
                <a:spcPts val="2030"/>
              </a:spcBef>
              <a:buClr>
                <a:srgbClr val="000000"/>
              </a:buClr>
              <a:buChar char="•"/>
              <a:tabLst>
                <a:tab pos="302260" algn="l"/>
              </a:tabLst>
            </a:pPr>
            <a:r>
              <a:rPr lang="en-US" sz="2000" b="1" dirty="0" err="1">
                <a:solidFill>
                  <a:srgbClr val="252525"/>
                </a:solidFill>
                <a:latin typeface="Times New Roman"/>
                <a:cs typeface="Times New Roman"/>
              </a:rPr>
              <a:t>AlmaLinux</a:t>
            </a:r>
            <a:b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</a:br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Another RHEL-compatible Linux distribution used for servers and cloud environments.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560672" y="-42698"/>
            <a:ext cx="9070655" cy="843369"/>
          </a:xfrm>
          <a:prstGeom prst="rect">
            <a:avLst/>
          </a:prstGeom>
        </p:spPr>
        <p:txBody>
          <a:bodyPr vert="horz" wrap="square" lIns="0" tIns="164653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1877695" algn="l"/>
              </a:tabLst>
            </a:pPr>
            <a:r>
              <a:rPr lang="en-IN" sz="4400" spc="-10" dirty="0">
                <a:solidFill>
                  <a:srgbClr val="548BB7"/>
                </a:solidFill>
                <a:latin typeface="Times New Roman"/>
                <a:cs typeface="Times New Roman"/>
              </a:rPr>
              <a:t>	Windows Server OS version</a:t>
            </a:r>
            <a:endParaRPr sz="4400" spc="-10" dirty="0">
              <a:solidFill>
                <a:srgbClr val="548BB7"/>
              </a:solidFill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1120" y="1613825"/>
            <a:ext cx="10665079" cy="31700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2260" marR="141605" lvl="1" indent="-229235">
              <a:lnSpc>
                <a:spcPct val="85100"/>
              </a:lnSpc>
              <a:spcBef>
                <a:spcPts val="2030"/>
              </a:spcBef>
              <a:buClr>
                <a:srgbClr val="000000"/>
              </a:buClr>
              <a:buSzPct val="100000"/>
              <a:buFont typeface="Arial MT"/>
              <a:buChar char="•"/>
              <a:tabLst>
                <a:tab pos="302260" algn="l"/>
              </a:tabLst>
            </a:pPr>
            <a:r>
              <a:rPr lang="en-US" sz="2000" b="1" dirty="0">
                <a:solidFill>
                  <a:srgbClr val="252525"/>
                </a:solidFill>
                <a:latin typeface="Times New Roman"/>
                <a:cs typeface="Times New Roman"/>
              </a:rPr>
              <a:t>Windows Server 2012 </a:t>
            </a:r>
            <a:b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</a:br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Used for basic enterprise services like file sharing, Active Directory, and DNS.</a:t>
            </a:r>
          </a:p>
          <a:p>
            <a:pPr marL="302260" marR="141605" lvl="1" indent="-229235">
              <a:lnSpc>
                <a:spcPct val="85100"/>
              </a:lnSpc>
              <a:spcBef>
                <a:spcPts val="2030"/>
              </a:spcBef>
              <a:buClr>
                <a:srgbClr val="000000"/>
              </a:buClr>
              <a:buSzPct val="100000"/>
              <a:buFont typeface="Arial MT"/>
              <a:buChar char="•"/>
              <a:tabLst>
                <a:tab pos="302260" algn="l"/>
              </a:tabLst>
            </a:pPr>
            <a:r>
              <a:rPr lang="en-US" sz="2000" b="1" dirty="0">
                <a:solidFill>
                  <a:srgbClr val="252525"/>
                </a:solidFill>
                <a:latin typeface="Times New Roman"/>
                <a:cs typeface="Times New Roman"/>
              </a:rPr>
              <a:t>Windows Server 2016</a:t>
            </a:r>
            <a:b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</a:br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Introduced improved security features and better virtualization support.</a:t>
            </a:r>
          </a:p>
          <a:p>
            <a:pPr marL="302260" marR="141605" lvl="1" indent="-229235">
              <a:lnSpc>
                <a:spcPct val="85100"/>
              </a:lnSpc>
              <a:spcBef>
                <a:spcPts val="2030"/>
              </a:spcBef>
              <a:buClr>
                <a:srgbClr val="000000"/>
              </a:buClr>
              <a:buSzPct val="100000"/>
              <a:buFont typeface="Arial MT"/>
              <a:buChar char="•"/>
              <a:tabLst>
                <a:tab pos="302260" algn="l"/>
              </a:tabLst>
            </a:pPr>
            <a:r>
              <a:rPr lang="en-US" sz="2000" b="1" dirty="0">
                <a:solidFill>
                  <a:srgbClr val="252525"/>
                </a:solidFill>
                <a:latin typeface="Times New Roman"/>
                <a:cs typeface="Times New Roman"/>
              </a:rPr>
              <a:t>Windows Server 2019</a:t>
            </a:r>
            <a:b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</a:br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Enhanced hybrid cloud integration and advanced security features.</a:t>
            </a:r>
          </a:p>
          <a:p>
            <a:pPr marL="302260" marR="141605" lvl="1" indent="-229235">
              <a:lnSpc>
                <a:spcPct val="85100"/>
              </a:lnSpc>
              <a:spcBef>
                <a:spcPts val="2030"/>
              </a:spcBef>
              <a:buClr>
                <a:srgbClr val="000000"/>
              </a:buClr>
              <a:buSzPct val="100000"/>
              <a:buFont typeface="Arial MT"/>
              <a:buChar char="•"/>
              <a:tabLst>
                <a:tab pos="302260" algn="l"/>
              </a:tabLst>
            </a:pPr>
            <a:r>
              <a:rPr lang="en-US" sz="2000" b="1" dirty="0">
                <a:solidFill>
                  <a:srgbClr val="252525"/>
                </a:solidFill>
                <a:latin typeface="Times New Roman"/>
                <a:cs typeface="Times New Roman"/>
              </a:rPr>
              <a:t>Windows Server 2022</a:t>
            </a:r>
            <a:b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</a:br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Focuses on secured-core server features, virtualization, and modern security enhancements.</a:t>
            </a:r>
          </a:p>
          <a:p>
            <a:pPr marL="12065" marR="193675">
              <a:lnSpc>
                <a:spcPts val="2300"/>
              </a:lnSpc>
              <a:spcBef>
                <a:spcPts val="10"/>
              </a:spcBef>
              <a:buSzPct val="50000"/>
              <a:tabLst>
                <a:tab pos="241300" algn="l"/>
              </a:tabLst>
            </a:pPr>
            <a:endParaRPr lang="en-US" sz="2000" dirty="0">
              <a:solidFill>
                <a:srgbClr val="252525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687</TotalTime>
  <Words>325</Words>
  <Application>Microsoft Office PowerPoint</Application>
  <PresentationFormat>Widescreen</PresentationFormat>
  <Paragraphs>34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Arial MT</vt:lpstr>
      <vt:lpstr>Calibri</vt:lpstr>
      <vt:lpstr>Cambria</vt:lpstr>
      <vt:lpstr>Times New Roman</vt:lpstr>
      <vt:lpstr>Office Theme</vt:lpstr>
      <vt:lpstr>PowerPoint Presentation</vt:lpstr>
      <vt:lpstr>   Overview </vt:lpstr>
      <vt:lpstr>Linux Client OS version</vt:lpstr>
      <vt:lpstr>PowerPoint Presentation</vt:lpstr>
      <vt:lpstr> Windows Server OS version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Presentation Template - Phase II.pptx</dc:title>
  <dc:creator>Rakshith</dc:creator>
  <cp:lastModifiedBy>Rakshit Ab</cp:lastModifiedBy>
  <cp:revision>38</cp:revision>
  <dcterms:created xsi:type="dcterms:W3CDTF">2025-10-22T14:46:34Z</dcterms:created>
  <dcterms:modified xsi:type="dcterms:W3CDTF">2026-02-13T12:45:52Z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2025-10-22T00:00:00Z</vt:filetime>
  </property>
  <property fmtid="{D5CDD505-2E9C-101B-9397-08002B2CF9AE}" pid="3" name="Creator">
    <vt:lpwstr>Google</vt:lpwstr>
  </property>
  <property fmtid="{D5CDD505-2E9C-101B-9397-08002B2CF9AE}" pid="4" name="LastSaved">
    <vt:filetime>2025-10-22T00:00:00Z</vt:filetime>
  </property>
</Properties>
</file>